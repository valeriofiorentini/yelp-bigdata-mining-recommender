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368aabb4-60ec-8f25-c16d-7f0fbe2dd4ec}">
          <p14:sldIdLst>
            <p14:sldId id="256"/>
            <p14:sldId id="257"/>
          </p14:sldIdLst>
        </p14:section>
        <p14:section name="Architettura" id="{f04a5924-46a0-f31e-6bcf-a85050495c40}">
          <p14:sldIdLst>
            <p14:sldId id="258"/>
          </p14:sldIdLst>
        </p14:section>
        <p14:section name="Analisi dei dati" id="{878bc4af-603e-d2fb-acc4-40efca817dec}">
          <p14:sldIdLst>
            <p14:sldId id="259"/>
            <p14:sldId id="260"/>
            <p14:sldId id="261"/>
          </p14:sldIdLst>
        </p14:section>
        <p14:section name="Raccomandazione e risultati" id="{3923c561-91e8-8525-14af-1feba2765ee8}">
          <p14:sldIdLst>
            <p14:sldId id="262"/>
            <p14:sldId id="263"/>
          </p14:sldIdLst>
        </p14:section>
        <p14:section name="Integrazione e conclusioni" id="{b421bb5e-d69e-c7e7-fcf6-4c05475d9c0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64A6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64A63"/>
                </a:solidFill>
                <a:latin typeface="+mn-lt"/>
              </a:rPr>
              <a:t>Latenza di risposta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Latenza (ms)</c:v>
                </c:pt>
              </c:strCache>
            </c:strRef>
          </c:tx>
          <c:spPr>
            <a:solidFill>
              <a:srgbClr val="1A1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C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23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KNN</c:v>
                  </c:pt>
                  <c:pt idx="1">
                    <c:v>Deep Learning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C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6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una pipeline analitica completa sul dataset Yelp: dall'acquisizione dei testi fino al Deep Learning, toccando Information Retrieval, Text Processing, Social Search e Recommender Systems. L'idea guida è una soluzione modulare.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dataset Yelp, oltre 5 GB di recensioni, utenti e locali, è il banco di prova per le quattro aree del corso: Information Retrieval, Text Processing, Social Search e Recommender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pipeline ha cinque fasi: Ingestion, EDA e SNA, NLP, Recommender e BI. Gli artefatti intermedi vengono salvati su Google Drive. Ogni fase corrisponde a un tema del corso: Text Acquisition, Social Search, Text Processing, Recommender System e Information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Filtro il dataset sul settore Food/Ristorazione. L'analisi temporale mostra picchi di affluenza il venerdì e il sabato sera. Sulla cartografia confronto le reti urbane, ad esempio Las Vegas ortogonale contro le città europee, con mappe Folium interattive.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Degree Centrality individuo gli opinion leader, con l'algoritmo di Louvain le community. La distribuzione segue una power-law: l'80% degli utenti scrive al massimo 5 recensioni.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word cloud contrappongono recensioni positive (cortesia, cibo) e negative (attese, servizio freddo). Con LDA estraggo 5 macro-argomenti. Per il sentiment uso Logistic Regression con TF-IDF e Multinomial Naive Bayes.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paradigmi: il content-based (KNN) è immune al cold-start e molto veloce; il collaborative filtering con SVD estrae relazioni latenti; il Deep Learning con embedding Keras offre la massima accuratezza per suggerimenti personalizzati.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Risultati principali: F1 di 0,97 sul sentiment (AUC 0,985), MAE di 0,76 e RMSE di 0,94 per il recommender neurale. In media il modello sbaglia di meno di una stella. Sulla latenza: KNN circa 55 ms, Deep Learning circa 436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Integrando LDA e rating si capisce perché un locale perde stelle e dove intervenire. Il trade-off è tra latenza e accuratezza. Tutto è riunito in un'unica dashboard con profilazione, sentiment, topic analysis e raccomandazione.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sintesi: ho integrato Social Search, Text Processing e Recommender Systems in un'unica pipeline. I tre punti di forza sono accesso all'informazione, modularità e completezza analitica, dall'ingestion alla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_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Sistemi Intelligenti per Internet  ·  Pipeline Yelp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SISTEMI INTELLIGENTI PER INTERNET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Pipeline Analitica Integrata per il Dataset Yelp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Sistemi Intelligenti &amp; Machine Learning: dall'acquisizione dei testi al Deep Learning, una soluzione modulare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Valerio Fiorentini  |  Matricola 641622</a:t>
            </a:r>
            <a:endParaRPr lang="en-US" sz="1400" dirty="0"/>
          </a:p>
        </p:txBody>
      </p:sp>
      <p:sp>
        <p:nvSpPr>
          <p:cNvPr id="6" name="Cerchio dati"/>
          <p:cNvSpPr/>
          <p:nvPr/>
        </p:nvSpPr>
        <p:spPr>
          <a:xfrm>
            <a:off x="5943600" y="109728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sto cerchio"/>
          <p:cNvSpPr txBox="1"/>
          <p:nvPr/>
        </p:nvSpPr>
        <p:spPr>
          <a:xfrm>
            <a:off x="6263640" y="109728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Dataset Yelp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recensioni, utenti e locali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Obiettivi: Sistemi Intelligenti per Internet</a:t>
            </a:r>
            <a:endParaRPr lang="en-US" sz="3200" dirty="0"/>
          </a:p>
        </p:txBody>
      </p:sp>
      <p:sp>
        <p:nvSpPr>
          <p:cNvPr id="3" name="Card Recommender Systems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Recommender Systems cerchio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ecommender Systems" descr="Recommender Sys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sto Recommender Systems"/>
          <p:cNvSpPr txBox="1"/>
          <p:nvPr/>
        </p:nvSpPr>
        <p:spPr>
          <a:xfrm>
            <a:off x="1325880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Recommender Systems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Suggerire locali in modo personalizzato</a:t>
            </a:r>
            <a:endParaRPr lang="en-US" sz="1800" dirty="0"/>
          </a:p>
        </p:txBody>
      </p:sp>
      <p:sp>
        <p:nvSpPr>
          <p:cNvPr id="7" name="Card Information Retrieval"/>
          <p:cNvSpPr/>
          <p:nvPr/>
        </p:nvSpPr>
        <p:spPr>
          <a:xfrm>
            <a:off x="466344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Information Retrieval cerchio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formation Retrieval" descr="Information Retriev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77340"/>
            <a:ext cx="228600" cy="228600"/>
          </a:xfrm>
          <a:prstGeom prst="rect">
            <a:avLst/>
          </a:prstGeom>
        </p:spPr>
      </p:pic>
      <p:sp>
        <p:nvSpPr>
          <p:cNvPr id="10" name="Testo Information Retrieval"/>
          <p:cNvSpPr txBox="1"/>
          <p:nvPr/>
        </p:nvSpPr>
        <p:spPr>
          <a:xfrm>
            <a:off x="5532120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Information Retrieval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Trovare e filtrare le informazioni rilevanti</a:t>
            </a:r>
            <a:endParaRPr lang="en-US" sz="1800" dirty="0"/>
          </a:p>
        </p:txBody>
      </p:sp>
      <p:sp>
        <p:nvSpPr>
          <p:cNvPr id="11" name="Card Social Search"/>
          <p:cNvSpPr/>
          <p:nvPr/>
        </p:nvSpPr>
        <p:spPr>
          <a:xfrm>
            <a:off x="45720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Social Search cerchio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ocial Search" descr="Social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766060"/>
            <a:ext cx="228600" cy="228600"/>
          </a:xfrm>
          <a:prstGeom prst="rect">
            <a:avLst/>
          </a:prstGeom>
        </p:spPr>
      </p:pic>
      <p:sp>
        <p:nvSpPr>
          <p:cNvPr id="14" name="Testo Social Search"/>
          <p:cNvSpPr txBox="1"/>
          <p:nvPr/>
        </p:nvSpPr>
        <p:spPr>
          <a:xfrm>
            <a:off x="132588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Social Search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Sfruttare le interazioni sociali degli utenti</a:t>
            </a:r>
            <a:endParaRPr lang="en-US" sz="1800" dirty="0"/>
          </a:p>
        </p:txBody>
      </p:sp>
      <p:sp>
        <p:nvSpPr>
          <p:cNvPr id="15" name="Card Text Processing"/>
          <p:cNvSpPr/>
          <p:nvPr/>
        </p:nvSpPr>
        <p:spPr>
          <a:xfrm>
            <a:off x="466344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6" name="Text Processing cerchio"/>
          <p:cNvSpPr/>
          <p:nvPr/>
        </p:nvSpPr>
        <p:spPr>
          <a:xfrm>
            <a:off x="489204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ext Processing" descr="Text Process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766060"/>
            <a:ext cx="228600" cy="228600"/>
          </a:xfrm>
          <a:prstGeom prst="rect">
            <a:avLst/>
          </a:prstGeom>
        </p:spPr>
      </p:pic>
      <p:sp>
        <p:nvSpPr>
          <p:cNvPr id="18" name="Testo Text Processing"/>
          <p:cNvSpPr txBox="1"/>
          <p:nvPr/>
        </p:nvSpPr>
        <p:spPr>
          <a:xfrm>
            <a:off x="5532120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Text Processing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Estrarre significato dalle recensioni</a:t>
            </a:r>
            <a:endParaRPr lang="en-US" sz="1800" dirty="0"/>
          </a:p>
        </p:txBody>
      </p:sp>
      <p:sp>
        <p:nvSpPr>
          <p:cNvPr id="19" name="Banner problema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20" name="Caso di studio cerchio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so di studio" descr="Caso di stud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54780"/>
            <a:ext cx="228600" cy="228600"/>
          </a:xfrm>
          <a:prstGeom prst="rect">
            <a:avLst/>
          </a:prstGeom>
        </p:spPr>
      </p:pic>
      <p:sp>
        <p:nvSpPr>
          <p:cNvPr id="22" name="Testo problema"/>
          <p:cNvSpPr txBox="1"/>
          <p:nvPr/>
        </p:nvSpPr>
        <p:spPr>
          <a:xfrm>
            <a:off x="1325880" y="3703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Il caso di studio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Il dataset Yelp (oltre 5 GB di recensioni, utenti e locali) come banco di prova per le quattro aree del corso.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Architettura della soluzione</a:t>
            </a:r>
            <a:endParaRPr lang="en-US" sz="3200" dirty="0"/>
          </a:p>
        </p:txBody>
      </p:sp>
      <p:sp>
        <p:nvSpPr>
          <p:cNvPr id="3" name="Fase 01"/>
          <p:cNvSpPr/>
          <p:nvPr/>
        </p:nvSpPr>
        <p:spPr>
          <a:xfrm>
            <a:off x="457200" y="1188720"/>
            <a:ext cx="1499616" cy="16459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Fase Ingestion cerchio"/>
          <p:cNvSpPr/>
          <p:nvPr/>
        </p:nvSpPr>
        <p:spPr>
          <a:xfrm>
            <a:off x="932688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ase Ingestion" descr="Fase Ing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860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786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Text Acquisition</a:t>
            </a:r>
            <a:endParaRPr lang="en-US" sz="1100" dirty="0"/>
          </a:p>
        </p:txBody>
      </p:sp>
      <p:sp>
        <p:nvSpPr>
          <p:cNvPr id="9" name="Fase 02"/>
          <p:cNvSpPr/>
          <p:nvPr/>
        </p:nvSpPr>
        <p:spPr>
          <a:xfrm>
            <a:off x="2139696" y="1188720"/>
            <a:ext cx="1499616" cy="16459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39696" y="1298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Fase EDA &amp; SNA cerchio"/>
          <p:cNvSpPr/>
          <p:nvPr/>
        </p:nvSpPr>
        <p:spPr>
          <a:xfrm>
            <a:off x="2615184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se EDA &amp; SNA" descr="Fase EDA &amp; S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44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39696" y="22860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EDA &amp; SNA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185416" y="25786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Social Search</a:t>
            </a:r>
            <a:endParaRPr lang="en-US" sz="1100" dirty="0"/>
          </a:p>
        </p:txBody>
      </p:sp>
      <p:sp>
        <p:nvSpPr>
          <p:cNvPr id="15" name="Fase 03"/>
          <p:cNvSpPr/>
          <p:nvPr/>
        </p:nvSpPr>
        <p:spPr>
          <a:xfrm>
            <a:off x="3822192" y="1188720"/>
            <a:ext cx="1499616" cy="16459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822192" y="1298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Fase NLP cerchio"/>
          <p:cNvSpPr/>
          <p:nvPr/>
        </p:nvSpPr>
        <p:spPr>
          <a:xfrm>
            <a:off x="429768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Fase NLP" descr="Fase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647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22192" y="22860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NLP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867912" y="25786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Text Processing</a:t>
            </a:r>
            <a:endParaRPr lang="en-US" sz="1100" dirty="0"/>
          </a:p>
        </p:txBody>
      </p:sp>
      <p:sp>
        <p:nvSpPr>
          <p:cNvPr id="21" name="Fase 04"/>
          <p:cNvSpPr/>
          <p:nvPr/>
        </p:nvSpPr>
        <p:spPr>
          <a:xfrm>
            <a:off x="5504688" y="1188720"/>
            <a:ext cx="1499616" cy="16459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504688" y="1298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Fase Recommender cerchio"/>
          <p:cNvSpPr/>
          <p:nvPr/>
        </p:nvSpPr>
        <p:spPr>
          <a:xfrm>
            <a:off x="5980176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Fase Recommender" descr="Fase Recommen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76479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04688" y="22860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Recommender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550408" y="25786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Recommender System</a:t>
            </a:r>
            <a:endParaRPr lang="en-US" sz="1100" dirty="0"/>
          </a:p>
        </p:txBody>
      </p:sp>
      <p:sp>
        <p:nvSpPr>
          <p:cNvPr id="27" name="Fase 05"/>
          <p:cNvSpPr/>
          <p:nvPr/>
        </p:nvSpPr>
        <p:spPr>
          <a:xfrm>
            <a:off x="7187184" y="1188720"/>
            <a:ext cx="1499616" cy="164592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187184" y="1298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Fase BI cerchio"/>
          <p:cNvSpPr/>
          <p:nvPr/>
        </p:nvSpPr>
        <p:spPr>
          <a:xfrm>
            <a:off x="7662672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ase BI" descr="Fase B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76479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87184" y="228600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232904" y="257860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Information Retrieval</a:t>
            </a:r>
            <a:endParaRPr lang="en-US" sz="1100" dirty="0"/>
          </a:p>
        </p:txBody>
      </p:sp>
      <p:sp>
        <p:nvSpPr>
          <p:cNvPr id="33" name="Artifact layer"/>
          <p:cNvSpPr/>
          <p:nvPr/>
        </p:nvSpPr>
        <p:spPr>
          <a:xfrm>
            <a:off x="457200" y="301752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</p:sp>
      <p:pic>
        <p:nvPicPr>
          <p:cNvPr id="34" name="Icona Drive" descr="Google Driv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63824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3444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Artifact Layer su Google Drive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   ·   artefatti intermedi salvati tra una fase e l'altra</a:t>
            </a:r>
            <a:endParaRPr lang="en-US" sz="1400" dirty="0"/>
          </a:p>
        </p:txBody>
      </p:sp>
      <p:sp>
        <p:nvSpPr>
          <p:cNvPr id="36" name="Focus cerchio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Focus" descr="Focu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00500"/>
            <a:ext cx="228600" cy="228600"/>
          </a:xfrm>
          <a:prstGeom prst="rect">
            <a:avLst/>
          </a:prstGeom>
        </p:spPr>
      </p:pic>
      <p:sp>
        <p:nvSpPr>
          <p:cNvPr id="38" name="Focus testo"/>
          <p:cNvSpPr txBox="1"/>
          <p:nvPr/>
        </p:nvSpPr>
        <p:spPr>
          <a:xfrm>
            <a:off x="1097280" y="38679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Focus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Text Acquisition, Information Retrieval e interazioni sociali.</a:t>
            </a:r>
            <a:endParaRPr lang="en-US" sz="1600" dirty="0"/>
          </a:p>
        </p:txBody>
      </p:sp>
      <p:sp>
        <p:nvSpPr>
          <p:cNvPr id="39" name="Dashboard cerchio"/>
          <p:cNvSpPr/>
          <p:nvPr/>
        </p:nvSpPr>
        <p:spPr>
          <a:xfrm>
            <a:off x="493776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Dashboard" descr="Dashboar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2060" y="4000500"/>
            <a:ext cx="228600" cy="228600"/>
          </a:xfrm>
          <a:prstGeom prst="rect">
            <a:avLst/>
          </a:prstGeom>
        </p:spPr>
      </p:pic>
      <p:sp>
        <p:nvSpPr>
          <p:cNvPr id="41" name="Dashboard testo"/>
          <p:cNvSpPr txBox="1"/>
          <p:nvPr/>
        </p:nvSpPr>
        <p:spPr>
          <a:xfrm>
            <a:off x="5577840" y="386791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 Streamlit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Un'unica interfaccia per esplorare tutte le fasi.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Ingestion, EDA e geospaziale</a:t>
            </a:r>
            <a:endParaRPr lang="en-US" sz="3200" dirty="0"/>
          </a:p>
        </p:txBody>
      </p:sp>
      <p:sp>
        <p:nvSpPr>
          <p:cNvPr id="3" name="Ingestion cerchio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ngestion" descr="Ing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Ingestion testo"/>
          <p:cNvSpPr txBox="1"/>
          <p:nvPr/>
        </p:nvSpPr>
        <p:spPr>
          <a:xfrm>
            <a:off x="1097280" y="12161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Filtro rapido sul settore Food/Ristorazione.</a:t>
            </a:r>
            <a:endParaRPr lang="en-US" sz="1600" dirty="0"/>
          </a:p>
        </p:txBody>
      </p:sp>
      <p:sp>
        <p:nvSpPr>
          <p:cNvPr id="6" name="Dinamiche temporali cerchio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Dinamiche temporali" descr="Dinamiche tempor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00300"/>
            <a:ext cx="228600" cy="228600"/>
          </a:xfrm>
          <a:prstGeom prst="rect">
            <a:avLst/>
          </a:prstGeom>
        </p:spPr>
      </p:pic>
      <p:sp>
        <p:nvSpPr>
          <p:cNvPr id="8" name="Dinamiche temporali testo"/>
          <p:cNvSpPr txBox="1"/>
          <p:nvPr/>
        </p:nvSpPr>
        <p:spPr>
          <a:xfrm>
            <a:off x="1097280" y="22677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Dinamiche temporali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Picchi di affluenza individuati con matrici (venerdì e sabato sera).</a:t>
            </a:r>
            <a:endParaRPr lang="en-US" sz="1600" dirty="0"/>
          </a:p>
        </p:txBody>
      </p:sp>
      <p:sp>
        <p:nvSpPr>
          <p:cNvPr id="9" name="Cartografia cerchio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rtografia" descr="Cartograf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43300"/>
            <a:ext cx="228600" cy="228600"/>
          </a:xfrm>
          <a:prstGeom prst="rect">
            <a:avLst/>
          </a:prstGeom>
        </p:spPr>
      </p:pic>
      <p:sp>
        <p:nvSpPr>
          <p:cNvPr id="11" name="Cartografia testo"/>
          <p:cNvSpPr txBox="1"/>
          <p:nvPr/>
        </p:nvSpPr>
        <p:spPr>
          <a:xfrm>
            <a:off x="1097280" y="34107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Cartografia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Confronto tra reti urbane (Las Vegas ortogonale vs città europee) e mappe Folium.</a:t>
            </a:r>
            <a:endParaRPr lang="en-US" sz="1600" dirty="0"/>
          </a:p>
        </p:txBody>
      </p:sp>
      <p:pic>
        <p:nvPicPr>
          <p:cNvPr id="12" name="Screenshot geospaziale" descr="Dashboard Streamlit geospazi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4114800" cy="216541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>
            <a:off x="45720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Dashboard Streamlit: esplorazione geospaziale (Philadelphia)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Social Network Analysis</a:t>
            </a:r>
            <a:endParaRPr lang="en-US" sz="3200" dirty="0"/>
          </a:p>
        </p:txBody>
      </p:sp>
      <p:sp>
        <p:nvSpPr>
          <p:cNvPr id="3" name="Opinion leader cerchio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Opinion leader" descr="Opinion lea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Opinion leader testo"/>
          <p:cNvSpPr txBox="1"/>
          <p:nvPr/>
        </p:nvSpPr>
        <p:spPr>
          <a:xfrm>
            <a:off x="1097280" y="1216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Opinion leader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Influencer estratti con la Degree Centrality.</a:t>
            </a:r>
            <a:endParaRPr lang="en-US" sz="1600" dirty="0"/>
          </a:p>
        </p:txBody>
      </p:sp>
      <p:sp>
        <p:nvSpPr>
          <p:cNvPr id="6" name="Community Detection cerchio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ommunity Detection" descr="Community De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08860"/>
            <a:ext cx="228600" cy="228600"/>
          </a:xfrm>
          <a:prstGeom prst="rect">
            <a:avLst/>
          </a:prstGeom>
        </p:spPr>
      </p:pic>
      <p:sp>
        <p:nvSpPr>
          <p:cNvPr id="8" name="Community Detection testo"/>
          <p:cNvSpPr txBox="1"/>
          <p:nvPr/>
        </p:nvSpPr>
        <p:spPr>
          <a:xfrm>
            <a:off x="1097280" y="21762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Community Detection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Partizionamento di Louvain.</a:t>
            </a:r>
            <a:endParaRPr lang="en-US" sz="1600" dirty="0"/>
          </a:p>
        </p:txBody>
      </p:sp>
      <p:sp>
        <p:nvSpPr>
          <p:cNvPr id="9" name="Card power-law"/>
          <p:cNvSpPr/>
          <p:nvPr/>
        </p:nvSpPr>
        <p:spPr>
          <a:xfrm>
            <a:off x="457200" y="3200400"/>
            <a:ext cx="4114800" cy="1325880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32004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80%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32004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Power-law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degli utenti scrive al massimo 5 recensioni</a:t>
            </a:r>
            <a:endParaRPr lang="en-US" sz="1400" dirty="0"/>
          </a:p>
        </p:txBody>
      </p:sp>
      <p:sp>
        <p:nvSpPr>
          <p:cNvPr id="12" name="Cornice grafo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Grafo rete sociale" descr="Grafo della rete soci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3017520" cy="30139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Spring layout: community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Text Mining e sentiment</a:t>
            </a:r>
            <a:endParaRPr lang="en-US" sz="3200" dirty="0"/>
          </a:p>
        </p:txBody>
      </p:sp>
      <p:sp>
        <p:nvSpPr>
          <p:cNvPr id="3" name="Word Cloud cerchio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Word Cloud" descr="Word 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Word Cloud testo"/>
          <p:cNvSpPr txBox="1"/>
          <p:nvPr/>
        </p:nvSpPr>
        <p:spPr>
          <a:xfrm>
            <a:off x="1097280" y="1216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Word Cloud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Positive (cortesia, cibo) vs negative (attese, servizio freddo).</a:t>
            </a:r>
            <a:endParaRPr lang="en-US" sz="1600" dirty="0"/>
          </a:p>
        </p:txBody>
      </p:sp>
      <p:sp>
        <p:nvSpPr>
          <p:cNvPr id="6" name="Topic Modeling cerchio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opic Modeling" descr="Topic Mode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91740"/>
            <a:ext cx="228600" cy="228600"/>
          </a:xfrm>
          <a:prstGeom prst="rect">
            <a:avLst/>
          </a:prstGeom>
        </p:spPr>
      </p:pic>
      <p:sp>
        <p:nvSpPr>
          <p:cNvPr id="8" name="Topic Modeling testo"/>
          <p:cNvSpPr txBox="1"/>
          <p:nvPr/>
        </p:nvSpPr>
        <p:spPr>
          <a:xfrm>
            <a:off x="1097280" y="2359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Topic Modeling (LDA)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5 macro-argomenti: servizio, cibo, attese, prezzo, atmosfera.</a:t>
            </a:r>
            <a:endParaRPr lang="en-US" sz="1600" dirty="0"/>
          </a:p>
        </p:txBody>
      </p:sp>
      <p:sp>
        <p:nvSpPr>
          <p:cNvPr id="9" name="Modelli predittivi cerchio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odelli predittivi" descr="Modelli predittiv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34740"/>
            <a:ext cx="228600" cy="228600"/>
          </a:xfrm>
          <a:prstGeom prst="rect">
            <a:avLst/>
          </a:prstGeom>
        </p:spPr>
      </p:pic>
      <p:sp>
        <p:nvSpPr>
          <p:cNvPr id="11" name="Modelli predittivi testo"/>
          <p:cNvSpPr txBox="1"/>
          <p:nvPr/>
        </p:nvSpPr>
        <p:spPr>
          <a:xfrm>
            <a:off x="1097280" y="35021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Modelli predittivi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Logistic Regression con TF-IDF e Multinomial Naive Bayes.</a:t>
            </a:r>
            <a:endParaRPr lang="en-US" sz="1600" dirty="0"/>
          </a:p>
        </p:txBody>
      </p:sp>
      <p:pic>
        <p:nvPicPr>
          <p:cNvPr id="12" name="Screenshot sentiment" descr="Dashboard sentiment e L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18516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pic>
      <p:pic>
        <p:nvPicPr>
          <p:cNvPr id="13" name="Word cloud" descr="Word cloud positive e negativ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46120"/>
            <a:ext cx="3657600" cy="129204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Sistemi di raccomandazione ibridi</a:t>
            </a:r>
            <a:endParaRPr lang="en-US" sz="3200" dirty="0"/>
          </a:p>
        </p:txBody>
      </p:sp>
      <p:sp>
        <p:nvSpPr>
          <p:cNvPr id="3" name="Card Content-Based (KNN)"/>
          <p:cNvSpPr/>
          <p:nvPr/>
        </p:nvSpPr>
        <p:spPr>
          <a:xfrm>
            <a:off x="457200" y="1188720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4" name="Numero 1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sto Content-Based (KNN)"/>
          <p:cNvSpPr txBox="1"/>
          <p:nvPr/>
        </p:nvSpPr>
        <p:spPr>
          <a:xfrm>
            <a:off x="1325880" y="1280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Content-Based (KNN)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Immune al cold-start: usa attributi (parcheggio, cucina, atmosfera), latenza minima.</a:t>
            </a:r>
            <a:endParaRPr lang="en-US" sz="1600" dirty="0"/>
          </a:p>
        </p:txBody>
      </p:sp>
      <p:sp>
        <p:nvSpPr>
          <p:cNvPr id="7" name="Card Collaborative Filtering (SVD)"/>
          <p:cNvSpPr/>
          <p:nvPr/>
        </p:nvSpPr>
        <p:spPr>
          <a:xfrm>
            <a:off x="457200" y="2331720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8" name="Numero 2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sto Collaborative Filtering (SVD)"/>
          <p:cNvSpPr txBox="1"/>
          <p:nvPr/>
        </p:nvSpPr>
        <p:spPr>
          <a:xfrm>
            <a:off x="1325880" y="2423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Collaborative Filtering (SVD)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Estrae relazioni latenti.</a:t>
            </a:r>
            <a:endParaRPr lang="en-US" sz="1600" dirty="0"/>
          </a:p>
        </p:txBody>
      </p:sp>
      <p:sp>
        <p:nvSpPr>
          <p:cNvPr id="11" name="Card Deep Learning (Keras Embeddings)"/>
          <p:cNvSpPr/>
          <p:nvPr/>
        </p:nvSpPr>
        <p:spPr>
          <a:xfrm>
            <a:off x="457200" y="3474720"/>
            <a:ext cx="4206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2" name="Numero 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sto Deep Learning (Keras Embeddings)"/>
          <p:cNvSpPr txBox="1"/>
          <p:nvPr/>
        </p:nvSpPr>
        <p:spPr>
          <a:xfrm>
            <a:off x="1325880" y="35661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Deep Learning (Keras Embeddings)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Massima accuratezza per suggerimenti super-personalizzati.</a:t>
            </a:r>
            <a:endParaRPr lang="en-US" sz="1600" dirty="0"/>
          </a:p>
        </p:txBody>
      </p:sp>
      <p:pic>
        <p:nvPicPr>
          <p:cNvPr id="15" name="Screenshot raccomandazione" descr="Dashboard raccomand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54480"/>
            <a:ext cx="3657600" cy="184023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502920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Dashboard Streamlit: motore di raccomandazione multi-paradigma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Risultati</a:t>
            </a:r>
            <a:endParaRPr lang="en-US" sz="3200" dirty="0"/>
          </a:p>
        </p:txBody>
      </p:sp>
      <p:sp>
        <p:nvSpPr>
          <p:cNvPr id="3" name="Card F1 Sentiment"/>
          <p:cNvSpPr/>
          <p:nvPr/>
        </p:nvSpPr>
        <p:spPr>
          <a:xfrm>
            <a:off x="457200" y="114300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F1 Sentiment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0.97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classificatore TF-IDF</a:t>
            </a:r>
            <a:endParaRPr lang="en-US" sz="1200" dirty="0"/>
          </a:p>
        </p:txBody>
      </p:sp>
      <p:sp>
        <p:nvSpPr>
          <p:cNvPr id="7" name="Card AUC Sentiment"/>
          <p:cNvSpPr/>
          <p:nvPr/>
        </p:nvSpPr>
        <p:spPr>
          <a:xfrm>
            <a:off x="2560320" y="114300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AUC Sentiment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0.985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capacità di separare le classi</a:t>
            </a:r>
            <a:endParaRPr lang="en-US" sz="1200" dirty="0"/>
          </a:p>
        </p:txBody>
      </p:sp>
      <p:sp>
        <p:nvSpPr>
          <p:cNvPr id="11" name="Card MAE"/>
          <p:cNvSpPr/>
          <p:nvPr/>
        </p:nvSpPr>
        <p:spPr>
          <a:xfrm>
            <a:off x="4663440" y="114300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0.76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errore medio &lt; 1 stella</a:t>
            </a:r>
            <a:endParaRPr lang="en-US" sz="1200" dirty="0"/>
          </a:p>
        </p:txBody>
      </p:sp>
      <p:sp>
        <p:nvSpPr>
          <p:cNvPr id="15" name="Card RMSE"/>
          <p:cNvSpPr/>
          <p:nvPr/>
        </p:nvSpPr>
        <p:spPr>
          <a:xfrm>
            <a:off x="6766560" y="1143000"/>
            <a:ext cx="1920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RMSE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Deep Learning recommender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651760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Card in parole semplici"/>
          <p:cNvSpPr/>
          <p:nvPr/>
        </p:nvSpPr>
        <p:spPr>
          <a:xfrm>
            <a:off x="4754880" y="2651760"/>
            <a:ext cx="3931920" cy="192024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8348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In parole semplici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Il modello neurale sbaglia in media di meno di 1 stella (0.76).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KNN risponde in ~55 ms, ideale per app in tempo reale; il Deep Learning impiega ~436 ms: più lento, ma più preciso.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Integrazione: Unified Yelp Analytics</a:t>
            </a:r>
            <a:endParaRPr lang="en-US" sz="3200" dirty="0"/>
          </a:p>
        </p:txBody>
      </p:sp>
      <p:pic>
        <p:nvPicPr>
          <p:cNvPr id="3" name="Screenshot benchmark" descr="Dashboard benchmark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297680" cy="222136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Dashboard Streamlit: benchmark pipeline 01-05</a:t>
            </a:r>
            <a:endParaRPr lang="en-US" sz="1000" dirty="0"/>
          </a:p>
        </p:txBody>
      </p:sp>
      <p:sp>
        <p:nvSpPr>
          <p:cNvPr id="5" name="Valore di business cerchio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Valore di business" descr="Valore di busin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348740"/>
            <a:ext cx="228600" cy="228600"/>
          </a:xfrm>
          <a:prstGeom prst="rect">
            <a:avLst/>
          </a:prstGeom>
        </p:spPr>
      </p:pic>
      <p:sp>
        <p:nvSpPr>
          <p:cNvPr id="7" name="Valore di business testo"/>
          <p:cNvSpPr txBox="1"/>
          <p:nvPr/>
        </p:nvSpPr>
        <p:spPr>
          <a:xfrm>
            <a:off x="5669280" y="12161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Valore di business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Integrare LDA e rating per capire perché un locale perde stelle.</a:t>
            </a:r>
            <a:endParaRPr lang="en-US" sz="1600" dirty="0"/>
          </a:p>
        </p:txBody>
      </p:sp>
      <p:sp>
        <p:nvSpPr>
          <p:cNvPr id="8" name="Trade-off cerchio"/>
          <p:cNvSpPr/>
          <p:nvPr/>
        </p:nvSpPr>
        <p:spPr>
          <a:xfrm>
            <a:off x="50292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Trade-off" descr="Trade-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491740"/>
            <a:ext cx="228600" cy="228600"/>
          </a:xfrm>
          <a:prstGeom prst="rect">
            <a:avLst/>
          </a:prstGeom>
        </p:spPr>
      </p:pic>
      <p:sp>
        <p:nvSpPr>
          <p:cNvPr id="10" name="Trade-off testo"/>
          <p:cNvSpPr txBox="1"/>
          <p:nvPr/>
        </p:nvSpPr>
        <p:spPr>
          <a:xfrm>
            <a:off x="5669280" y="23591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Trade-off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Latenza vs accuratezza: KNN ~55 ms contro Deep Learning ~436 ms.</a:t>
            </a:r>
            <a:endParaRPr lang="en-US" sz="1600" dirty="0"/>
          </a:p>
        </p:txBody>
      </p:sp>
      <p:sp>
        <p:nvSpPr>
          <p:cNvPr id="11" name="Dashboard unica cerchio"/>
          <p:cNvSpPr/>
          <p:nvPr/>
        </p:nvSpPr>
        <p:spPr>
          <a:xfrm>
            <a:off x="50292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Dashboard unica" descr="Dashboard un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634740"/>
            <a:ext cx="228600" cy="228600"/>
          </a:xfrm>
          <a:prstGeom prst="rect">
            <a:avLst/>
          </a:prstGeom>
        </p:spPr>
      </p:pic>
      <p:sp>
        <p:nvSpPr>
          <p:cNvPr id="13" name="Dashboard unica testo"/>
          <p:cNvSpPr txBox="1"/>
          <p:nvPr/>
        </p:nvSpPr>
        <p:spPr>
          <a:xfrm>
            <a:off x="5669280" y="35021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 unica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Profilazione, sentiment, topic analysis e raccomandazione.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Integrazione efficace di Social Search, Text Processing e Recommender Systems.</a:t>
            </a:r>
            <a:endParaRPr lang="en-US" sz="1600" dirty="0"/>
          </a:p>
        </p:txBody>
      </p:sp>
      <p:sp>
        <p:nvSpPr>
          <p:cNvPr id="4" name="Pilastro 1"/>
          <p:cNvSpPr/>
          <p:nvPr/>
        </p:nvSpPr>
        <p:spPr>
          <a:xfrm>
            <a:off x="45720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accent2"/>
          </a:solidFill>
          <a:ln/>
        </p:spPr>
      </p:sp>
      <p:sp>
        <p:nvSpPr>
          <p:cNvPr id="5" name="Accesso all'informazione cerchio"/>
          <p:cNvSpPr/>
          <p:nvPr/>
        </p:nvSpPr>
        <p:spPr>
          <a:xfrm>
            <a:off x="141732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ccesso all'informazione" descr="Accesso all'informazi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Accesso all'informazione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 recensioni e interazioni a raccomandazioni utili</a:t>
            </a:r>
            <a:endParaRPr lang="en-US" sz="1400" dirty="0"/>
          </a:p>
        </p:txBody>
      </p:sp>
      <p:sp>
        <p:nvSpPr>
          <p:cNvPr id="9" name="Pilastro 2"/>
          <p:cNvSpPr/>
          <p:nvPr/>
        </p:nvSpPr>
        <p:spPr>
          <a:xfrm>
            <a:off x="324612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accent2"/>
          </a:solidFill>
          <a:ln/>
        </p:spPr>
      </p:sp>
      <p:sp>
        <p:nvSpPr>
          <p:cNvPr id="10" name="Modularità cerchio"/>
          <p:cNvSpPr/>
          <p:nvPr/>
        </p:nvSpPr>
        <p:spPr>
          <a:xfrm>
            <a:off x="420624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dularità" descr="Modularit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375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Modularità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Cinque moduli indipendenti</a:t>
            </a:r>
            <a:endParaRPr lang="en-US" sz="1400" dirty="0"/>
          </a:p>
        </p:txBody>
      </p:sp>
      <p:sp>
        <p:nvSpPr>
          <p:cNvPr id="14" name="Pilastro 3"/>
          <p:cNvSpPr/>
          <p:nvPr/>
        </p:nvSpPr>
        <p:spPr>
          <a:xfrm>
            <a:off x="603504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accent2"/>
          </a:solidFill>
          <a:ln/>
        </p:spPr>
      </p:sp>
      <p:sp>
        <p:nvSpPr>
          <p:cNvPr id="15" name="Completezza analitica cerchio"/>
          <p:cNvSpPr/>
          <p:nvPr/>
        </p:nvSpPr>
        <p:spPr>
          <a:xfrm>
            <a:off x="699516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ompletezza analitica" descr="Completezza analit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77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Completezza analitica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Dall'ingestion alla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lp Pipeline">
  <a:themeElements>
    <a:clrScheme name="Yelp Pipeline">
      <a:dk1>
        <a:srgbClr val="1A1C2C"/>
      </a:dk1>
      <a:lt1>
        <a:srgbClr val="FFFFFF"/>
      </a:lt1>
      <a:dk2>
        <a:srgbClr val="464A63"/>
      </a:dk2>
      <a:lt2>
        <a:srgbClr val="F2F3F7"/>
      </a:lt2>
      <a:accent1>
        <a:srgbClr val="D32323"/>
      </a:accent1>
      <a:accent2>
        <a:srgbClr val="2D3050"/>
      </a:accent2>
      <a:accent3>
        <a:srgbClr val="6B7089"/>
      </a:accent3>
      <a:accent4>
        <a:srgbClr val="F4B4B4"/>
      </a:accent4>
      <a:accent5>
        <a:srgbClr val="3E8E5E"/>
      </a:accent5>
      <a:accent6>
        <a:srgbClr val="E8A33D"/>
      </a:accent6>
      <a:hlink>
        <a:srgbClr val="D32323"/>
      </a:hlink>
      <a:folHlink>
        <a:srgbClr val="6B7089"/>
      </a:folHlink>
    </a:clrScheme>
    <a:fontScheme name="Yelp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Analitica Integrata per il Dataset Yelp</dc:title>
  <dc:subject>PptxGenJS Presentation</dc:subject>
  <dc:creator>Valerio Fiorentini</dc:creator>
  <cp:lastModifiedBy>Valerio Fiorentini</cp:lastModifiedBy>
  <cp:revision>1</cp:revision>
  <dcterms:created xsi:type="dcterms:W3CDTF">2026-10-10T08:38:55Z</dcterms:created>
  <dcterms:modified xsi:type="dcterms:W3CDTF">2026-10-10T08:38:55Z</dcterms:modified>
</cp:coreProperties>
</file>