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zione" id="{fb9cf1ee-f171-de12-b6d1-2f2669d9e8ca}">
          <p14:sldIdLst>
            <p14:sldId id="256"/>
            <p14:sldId id="257"/>
            <p14:sldId id="258"/>
          </p14:sldIdLst>
        </p14:section>
        <p14:section name="Analisi" id="{aadeb9dc-d2ba-8542-70fd-b4adab7f4c9d}">
          <p14:sldIdLst>
            <p14:sldId id="259"/>
            <p14:sldId id="260"/>
            <p14:sldId id="261"/>
          </p14:sldIdLst>
        </p14:section>
        <p14:section name="Modelli" id="{7288e9c1-7026-2842-0deb-14a997d71b9a}">
          <p14:sldIdLst>
            <p14:sldId id="262"/>
          </p14:sldIdLst>
        </p14:section>
        <p14:section name="Risultati" id="{ed6fec66-1730-cb3b-a892-2db881a84747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03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030"/>
                </a:solidFill>
                <a:latin typeface="+mn-lt"/>
              </a:rPr>
              <a:t>Latenza di risposta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Latenza (ms)</c:v>
                </c:pt>
              </c:strCache>
            </c:strRef>
          </c:tx>
          <c:spPr>
            <a:solidFill>
              <a:srgbClr val="D323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0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323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203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KNN</c:v>
                  </c:pt>
                  <c:pt idx="1">
                    <c:v>Deep Learning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436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0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0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Presento una pipeline analitica completa sul dataset Yelp: dall'ingestion dei dati grezzi, convertiti in formato Parquet, fino al Deep Learning. L'idea guida è una soluzione scalabile e modulare.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problema di partenza: oltre 5 GB di JSON mandavano in crash la RAM (Out of Memory) e il codice sequenziale era lento. La soluzione è stata adottare Polars, che elabora in multi-core ed evita i colli di bottiglia.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pipeline ha cinque fasi: Ingestion, EDA e SNA, NLP, Recommender e BI. Gli artefatti intermedi vengono salvati su Google Drive. Polars, scritto in Rust, dà caricamenti quasi istantanei e aggregazioni senza problemi di memoria.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Filtro il dataset sul settore Food/Ristorazione. L'analisi temporale mostra picchi di affluenza il venerdì e il sabato sera. Sulla cartografia confronto le reti urbane, ad esempio Las Vegas ortogonale contro le città europee, con mappe Folium interattive.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la Degree Centrality individuo gli opinion leader, con l'algoritmo di Louvain le community. La distribuzione segue una power-law: l'80% degli utenti scrive al massimo 5 recensioni.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word cloud contrappongono recensioni positive (cortesia, cibo) e negative (attese, servizio freddo). Con LDA estraggo 5 macro-argomenti. Per il sentiment uso Logistic Regression con TF-IDF e Multinomial Naive Bayes.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paradigmi: il content-based (KNN) è immune al cold-start e molto veloce; il collaborative filtering con SVD estrae relazioni latenti; il Deep Learning con embedding Keras offre la massima accuratezza per suggerimenti personalizzati.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Risultati principali: compressione dei dati oltre il 95%, F1 di 0,97 sul sentiment (AUC 0,985), MAE di 0,76 e RMSE di 0,94 per il recommender neurale. In media il modello sbaglia di meno di una stella. Sulla latenza: KNN circa 55 ms, Deep Learning circa 436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Integrando LDA e rating si capisce perché un locale perde stelle e dove intervenire. Il trade-off è tra latenza e accuratezza. Tutto è riunito in un'unica dashboard con profilazione, sentiment, topic analysis e raccomandazione.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sintesi: eliminati i crash per Out of Memory grazie a Polars, passando da minuti a millisecondi. I tre punti di forza sono velocità, modularità e completezza analitica, dall'ingestion alla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4864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5486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Shape 0"/>
          <p:cNvSpPr/>
          <p:nvPr/>
        </p:nvSpPr>
        <p:spPr>
          <a:xfrm>
            <a:off x="457200" y="987552"/>
            <a:ext cx="64008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Sistemi Intelligenti per Internet  ·  Pipeline Yelp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USUR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rso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SISTEMI INTELLIGENTI PER INTERNET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37160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Pipeline Analitica Integrata su Larga Scala per il Dataset Yelp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017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Sistemi Intelligenti &amp; Machine Learning: dall'Ingestion al Deep Learning, una soluzione scalabile e modulare</a:t>
            </a:r>
            <a:endParaRPr lang="en-US" sz="1600" dirty="0"/>
          </a:p>
        </p:txBody>
      </p:sp>
      <p:sp>
        <p:nvSpPr>
          <p:cNvPr id="6" name="Autore"/>
          <p:cNvSpPr txBox="1"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Valerio Fiorentini  |  Matricola 641622</a:t>
            </a:r>
            <a:endParaRPr lang="en-US" sz="1400" dirty="0"/>
          </a:p>
        </p:txBody>
      </p:sp>
      <p:sp>
        <p:nvSpPr>
          <p:cNvPr id="7" name="Cerchio"/>
          <p:cNvSpPr/>
          <p:nvPr/>
        </p:nvSpPr>
        <p:spPr>
          <a:xfrm>
            <a:off x="6309360" y="1097280"/>
            <a:ext cx="2651760" cy="2651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tat copertina"/>
          <p:cNvSpPr txBox="1"/>
          <p:nvPr/>
        </p:nvSpPr>
        <p:spPr>
          <a:xfrm>
            <a:off x="6309360" y="109728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Dati grezzi</a:t>
            </a:r>
            <a:endParaRPr lang="en-US" sz="26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→ Formato Parquet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sfide del dataset Yelp</a:t>
            </a:r>
            <a:endParaRPr lang="en-US" sz="3000" dirty="0"/>
          </a:p>
        </p:txBody>
      </p:sp>
      <p:sp>
        <p:nvSpPr>
          <p:cNvPr id="4" name="Riga 1"/>
          <p:cNvSpPr/>
          <p:nvPr/>
        </p:nvSpPr>
        <p:spPr>
          <a:xfrm>
            <a:off x="457200" y="1325880"/>
            <a:ext cx="5212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5" name="Icona 1 sfondo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a 1" descr="Icona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1662379"/>
            <a:ext cx="241402" cy="241402"/>
          </a:xfrm>
          <a:prstGeom prst="rect">
            <a:avLst/>
          </a:prstGeom>
        </p:spPr>
      </p:pic>
      <p:sp>
        <p:nvSpPr>
          <p:cNvPr id="7" name="Testo 1"/>
          <p:cNvSpPr txBox="1"/>
          <p:nvPr/>
        </p:nvSpPr>
        <p:spPr>
          <a:xfrm>
            <a:off x="1371600" y="1399032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Saturazione della RAM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Dati grezzi così pesanti da causare errori di Out of Memory.</a:t>
            </a:r>
            <a:endParaRPr lang="en-US" sz="1600" dirty="0"/>
          </a:p>
        </p:txBody>
      </p:sp>
      <p:sp>
        <p:nvSpPr>
          <p:cNvPr id="8" name="Riga 2"/>
          <p:cNvSpPr/>
          <p:nvPr/>
        </p:nvSpPr>
        <p:spPr>
          <a:xfrm>
            <a:off x="457200" y="2423160"/>
            <a:ext cx="5212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9" name="Icona 2 sfondo"/>
          <p:cNvSpPr/>
          <p:nvPr/>
        </p:nvSpPr>
        <p:spPr>
          <a:xfrm>
            <a:off x="640080" y="2606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a 2" descr="Icona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2759659"/>
            <a:ext cx="241402" cy="241402"/>
          </a:xfrm>
          <a:prstGeom prst="rect">
            <a:avLst/>
          </a:prstGeom>
        </p:spPr>
      </p:pic>
      <p:sp>
        <p:nvSpPr>
          <p:cNvPr id="11" name="Testo 2"/>
          <p:cNvSpPr txBox="1"/>
          <p:nvPr/>
        </p:nvSpPr>
        <p:spPr>
          <a:xfrm>
            <a:off x="1371600" y="2496312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Codice lento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Elaborazioni sequenziali con tempi di risposta troppo lunghi.</a:t>
            </a:r>
            <a:endParaRPr lang="en-US" sz="1600" dirty="0"/>
          </a:p>
        </p:txBody>
      </p:sp>
      <p:sp>
        <p:nvSpPr>
          <p:cNvPr id="12" name="Riga 3"/>
          <p:cNvSpPr/>
          <p:nvPr/>
        </p:nvSpPr>
        <p:spPr>
          <a:xfrm>
            <a:off x="457200" y="3520440"/>
            <a:ext cx="5212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3" name="Icona 3 sfondo"/>
          <p:cNvSpPr/>
          <p:nvPr/>
        </p:nvSpPr>
        <p:spPr>
          <a:xfrm>
            <a:off x="640080" y="3703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a 3" descr="Icona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3856939"/>
            <a:ext cx="241402" cy="241402"/>
          </a:xfrm>
          <a:prstGeom prst="rect">
            <a:avLst/>
          </a:prstGeom>
        </p:spPr>
      </p:pic>
      <p:sp>
        <p:nvSpPr>
          <p:cNvPr id="15" name="Testo 3"/>
          <p:cNvSpPr txBox="1"/>
          <p:nvPr/>
        </p:nvSpPr>
        <p:spPr>
          <a:xfrm>
            <a:off x="1371600" y="3593592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Soluzione: Polars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Elaborazione multi-core, senza colli di bottiglia.</a:t>
            </a:r>
            <a:endParaRPr lang="en-US" sz="1600" dirty="0"/>
          </a:p>
        </p:txBody>
      </p:sp>
      <p:sp>
        <p:nvSpPr>
          <p:cNvPr id="16" name="Card statistica"/>
          <p:cNvSpPr/>
          <p:nvPr/>
        </p:nvSpPr>
        <p:spPr>
          <a:xfrm>
            <a:off x="6126480" y="132588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tatistica 5 GB"/>
          <p:cNvSpPr txBox="1"/>
          <p:nvPr/>
        </p:nvSpPr>
        <p:spPr>
          <a:xfrm>
            <a:off x="6309360" y="132588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GB</a:t>
            </a:r>
            <a:endParaRPr lang="en-US" sz="5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 dati grezzi che mandavano in crash la RAM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Architettura della soluzione</a:t>
            </a:r>
            <a:endParaRPr lang="en-US" sz="3000" dirty="0"/>
          </a:p>
        </p:txBody>
      </p:sp>
      <p:sp>
        <p:nvSpPr>
          <p:cNvPr id="4" name="Fase 1"/>
          <p:cNvSpPr/>
          <p:nvPr/>
        </p:nvSpPr>
        <p:spPr>
          <a:xfrm>
            <a:off x="457200" y="1280160"/>
            <a:ext cx="1463040" cy="15087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5" name="Numero 1"/>
          <p:cNvSpPr txBox="1"/>
          <p:nvPr/>
        </p:nvSpPr>
        <p:spPr>
          <a:xfrm>
            <a:off x="457200" y="1344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Icona fase 1 sfondo"/>
          <p:cNvSpPr/>
          <p:nvPr/>
        </p:nvSpPr>
        <p:spPr>
          <a:xfrm>
            <a:off x="91440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a fase 1" descr="Icona fas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1753819"/>
            <a:ext cx="241402" cy="241402"/>
          </a:xfrm>
          <a:prstGeom prst="rect">
            <a:avLst/>
          </a:prstGeom>
        </p:spPr>
      </p:pic>
      <p:sp>
        <p:nvSpPr>
          <p:cNvPr id="8" name="Nome fase 1"/>
          <p:cNvSpPr txBox="1"/>
          <p:nvPr/>
        </p:nvSpPr>
        <p:spPr>
          <a:xfrm>
            <a:off x="45720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Ingestion</a:t>
            </a:r>
            <a:endParaRPr lang="en-US" sz="1400" dirty="0"/>
          </a:p>
        </p:txBody>
      </p:sp>
      <p:sp>
        <p:nvSpPr>
          <p:cNvPr id="9" name="Freccia 1"/>
          <p:cNvSpPr/>
          <p:nvPr/>
        </p:nvSpPr>
        <p:spPr>
          <a:xfrm>
            <a:off x="1956816" y="1938528"/>
            <a:ext cx="155448" cy="27432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0" name="Fase 2"/>
          <p:cNvSpPr/>
          <p:nvPr/>
        </p:nvSpPr>
        <p:spPr>
          <a:xfrm>
            <a:off x="2148840" y="1280160"/>
            <a:ext cx="1463040" cy="15087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1" name="Numero 2"/>
          <p:cNvSpPr txBox="1"/>
          <p:nvPr/>
        </p:nvSpPr>
        <p:spPr>
          <a:xfrm>
            <a:off x="2148840" y="1344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Icona fase 2 sfondo"/>
          <p:cNvSpPr/>
          <p:nvPr/>
        </p:nvSpPr>
        <p:spPr>
          <a:xfrm>
            <a:off x="260604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a fase 2" descr="Icona fas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659" y="1753819"/>
            <a:ext cx="241402" cy="241402"/>
          </a:xfrm>
          <a:prstGeom prst="rect">
            <a:avLst/>
          </a:prstGeom>
        </p:spPr>
      </p:pic>
      <p:sp>
        <p:nvSpPr>
          <p:cNvPr id="14" name="Nome fase 2"/>
          <p:cNvSpPr txBox="1"/>
          <p:nvPr/>
        </p:nvSpPr>
        <p:spPr>
          <a:xfrm>
            <a:off x="214884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EDA &amp; SNA</a:t>
            </a:r>
            <a:endParaRPr lang="en-US" sz="1400" dirty="0"/>
          </a:p>
        </p:txBody>
      </p:sp>
      <p:sp>
        <p:nvSpPr>
          <p:cNvPr id="15" name="Freccia 2"/>
          <p:cNvSpPr/>
          <p:nvPr/>
        </p:nvSpPr>
        <p:spPr>
          <a:xfrm>
            <a:off x="3648456" y="1938528"/>
            <a:ext cx="155448" cy="27432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6" name="Fase 3"/>
          <p:cNvSpPr/>
          <p:nvPr/>
        </p:nvSpPr>
        <p:spPr>
          <a:xfrm>
            <a:off x="3840480" y="1280160"/>
            <a:ext cx="1463040" cy="15087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7" name="Numero 3"/>
          <p:cNvSpPr txBox="1"/>
          <p:nvPr/>
        </p:nvSpPr>
        <p:spPr>
          <a:xfrm>
            <a:off x="3840480" y="1344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Icona fase 3 sfondo"/>
          <p:cNvSpPr/>
          <p:nvPr/>
        </p:nvSpPr>
        <p:spPr>
          <a:xfrm>
            <a:off x="429768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a fase 3" descr="Icona fas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299" y="1753819"/>
            <a:ext cx="241402" cy="241402"/>
          </a:xfrm>
          <a:prstGeom prst="rect">
            <a:avLst/>
          </a:prstGeom>
        </p:spPr>
      </p:pic>
      <p:sp>
        <p:nvSpPr>
          <p:cNvPr id="20" name="Nome fase 3"/>
          <p:cNvSpPr txBox="1"/>
          <p:nvPr/>
        </p:nvSpPr>
        <p:spPr>
          <a:xfrm>
            <a:off x="384048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NLP</a:t>
            </a:r>
            <a:endParaRPr lang="en-US" sz="1400" dirty="0"/>
          </a:p>
        </p:txBody>
      </p:sp>
      <p:sp>
        <p:nvSpPr>
          <p:cNvPr id="21" name="Freccia 3"/>
          <p:cNvSpPr/>
          <p:nvPr/>
        </p:nvSpPr>
        <p:spPr>
          <a:xfrm>
            <a:off x="5340096" y="1938528"/>
            <a:ext cx="155448" cy="27432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2" name="Fase 4"/>
          <p:cNvSpPr/>
          <p:nvPr/>
        </p:nvSpPr>
        <p:spPr>
          <a:xfrm>
            <a:off x="5532120" y="1280160"/>
            <a:ext cx="1463040" cy="15087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3" name="Numero 4"/>
          <p:cNvSpPr txBox="1"/>
          <p:nvPr/>
        </p:nvSpPr>
        <p:spPr>
          <a:xfrm>
            <a:off x="5532120" y="1344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Icona fase 4 sfondo"/>
          <p:cNvSpPr/>
          <p:nvPr/>
        </p:nvSpPr>
        <p:spPr>
          <a:xfrm>
            <a:off x="598932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a fase 4" descr="Icona fas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939" y="1753819"/>
            <a:ext cx="241402" cy="241402"/>
          </a:xfrm>
          <a:prstGeom prst="rect">
            <a:avLst/>
          </a:prstGeom>
        </p:spPr>
      </p:pic>
      <p:sp>
        <p:nvSpPr>
          <p:cNvPr id="26" name="Nome fase 4"/>
          <p:cNvSpPr txBox="1"/>
          <p:nvPr/>
        </p:nvSpPr>
        <p:spPr>
          <a:xfrm>
            <a:off x="553212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Recommender</a:t>
            </a:r>
            <a:endParaRPr lang="en-US" sz="1400" dirty="0"/>
          </a:p>
        </p:txBody>
      </p:sp>
      <p:sp>
        <p:nvSpPr>
          <p:cNvPr id="27" name="Freccia 4"/>
          <p:cNvSpPr/>
          <p:nvPr/>
        </p:nvSpPr>
        <p:spPr>
          <a:xfrm>
            <a:off x="7031736" y="1938528"/>
            <a:ext cx="155448" cy="27432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8" name="Fase 5"/>
          <p:cNvSpPr/>
          <p:nvPr/>
        </p:nvSpPr>
        <p:spPr>
          <a:xfrm>
            <a:off x="7223760" y="1280160"/>
            <a:ext cx="1463040" cy="15087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9" name="Numero 5"/>
          <p:cNvSpPr txBox="1"/>
          <p:nvPr/>
        </p:nvSpPr>
        <p:spPr>
          <a:xfrm>
            <a:off x="7223760" y="1344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05</a:t>
            </a:r>
            <a:endParaRPr lang="en-US" sz="1100" dirty="0"/>
          </a:p>
        </p:txBody>
      </p:sp>
      <p:sp>
        <p:nvSpPr>
          <p:cNvPr id="30" name="Icona fase 5 sfondo"/>
          <p:cNvSpPr/>
          <p:nvPr/>
        </p:nvSpPr>
        <p:spPr>
          <a:xfrm>
            <a:off x="768096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cona fase 5" descr="Icona fase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4579" y="1753819"/>
            <a:ext cx="241402" cy="241402"/>
          </a:xfrm>
          <a:prstGeom prst="rect">
            <a:avLst/>
          </a:prstGeom>
        </p:spPr>
      </p:pic>
      <p:sp>
        <p:nvSpPr>
          <p:cNvPr id="32" name="Nome fase 5"/>
          <p:cNvSpPr txBox="1"/>
          <p:nvPr/>
        </p:nvSpPr>
        <p:spPr>
          <a:xfrm>
            <a:off x="722376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BI</a:t>
            </a:r>
            <a:endParaRPr lang="en-US" sz="1400" dirty="0"/>
          </a:p>
        </p:txBody>
      </p:sp>
      <p:sp>
        <p:nvSpPr>
          <p:cNvPr id="33" name="Artifact layer"/>
          <p:cNvSpPr/>
          <p:nvPr/>
        </p:nvSpPr>
        <p:spPr>
          <a:xfrm>
            <a:off x="457200" y="301752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34" name="Artifact layer testo"/>
          <p:cNvSpPr txBox="1"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Artifact Layer su Google Drive</a:t>
            </a:r>
            <a:endParaRPr lang="en-US" sz="1600" dirty="0"/>
          </a:p>
        </p:txBody>
      </p:sp>
      <p:sp>
        <p:nvSpPr>
          <p:cNvPr id="35" name="Icona Polars sfondo"/>
          <p:cNvSpPr/>
          <p:nvPr/>
        </p:nvSpPr>
        <p:spPr>
          <a:xfrm>
            <a:off x="457200" y="3794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cona Polars" descr="Icona Pola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19" y="3948379"/>
            <a:ext cx="241402" cy="241402"/>
          </a:xfrm>
          <a:prstGeom prst="rect">
            <a:avLst/>
          </a:prstGeom>
        </p:spPr>
      </p:pic>
      <p:sp>
        <p:nvSpPr>
          <p:cNvPr id="37" name="Nota Polars"/>
          <p:cNvSpPr txBox="1"/>
          <p:nvPr/>
        </p:nvSpPr>
        <p:spPr>
          <a:xfrm>
            <a:off x="1188720" y="3703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Adattabilità hardware: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ottimizzazione totale grazie all'engine in Rust di Polars, per caricamenti quasi istantanei e aggregazioni OOM-free.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Ingestion, EDA e geospaziale</a:t>
            </a:r>
            <a:endParaRPr lang="en-US" sz="3000" dirty="0"/>
          </a:p>
        </p:txBody>
      </p:sp>
      <p:sp>
        <p:nvSpPr>
          <p:cNvPr id="4" name="Ingestion"/>
          <p:cNvSpPr txBox="1"/>
          <p:nvPr/>
        </p:nvSpPr>
        <p:spPr>
          <a:xfrm>
            <a:off x="457200" y="12801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Ingestion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Filtro rapido sul settore Food/Ristorazione.</a:t>
            </a:r>
            <a:endParaRPr lang="en-US" sz="1600" dirty="0"/>
          </a:p>
        </p:txBody>
      </p:sp>
      <p:sp>
        <p:nvSpPr>
          <p:cNvPr id="5" name="Dinamiche"/>
          <p:cNvSpPr txBox="1"/>
          <p:nvPr/>
        </p:nvSpPr>
        <p:spPr>
          <a:xfrm>
            <a:off x="457200" y="22860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Dinamiche temporali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Picchi di affluenza individuati con matrici (venerdì e sabato sera).</a:t>
            </a:r>
            <a:endParaRPr lang="en-US" sz="1600" dirty="0"/>
          </a:p>
        </p:txBody>
      </p:sp>
      <p:sp>
        <p:nvSpPr>
          <p:cNvPr id="6" name="Cartografia"/>
          <p:cNvSpPr txBox="1"/>
          <p:nvPr/>
        </p:nvSpPr>
        <p:spPr>
          <a:xfrm>
            <a:off x="457200" y="32918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Cartografia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Confronto tra reti urbane (Las Vegas ortogonale vs città europee) e mappe interattive Folium.</a:t>
            </a:r>
            <a:endParaRPr lang="en-US" sz="1600" dirty="0"/>
          </a:p>
        </p:txBody>
      </p:sp>
      <p:pic>
        <p:nvPicPr>
          <p:cNvPr id="7" name="Dashboard Streamlit geospaziale" descr="Dashboard Streamlit geospazi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371600"/>
            <a:ext cx="4206240" cy="221284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8" name="Didascalia"/>
          <p:cNvSpPr txBox="1"/>
          <p:nvPr/>
        </p:nvSpPr>
        <p:spPr>
          <a:xfrm>
            <a:off x="4480560" y="3703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Dashboard Streamlit: esplorazione geospaziale (Philadelphia)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Social Network Analysis</a:t>
            </a:r>
            <a:endParaRPr lang="en-US" sz="3000" dirty="0"/>
          </a:p>
        </p:txBody>
      </p:sp>
      <p:sp>
        <p:nvSpPr>
          <p:cNvPr id="4" name="Opinion leader"/>
          <p:cNvSpPr txBox="1"/>
          <p:nvPr/>
        </p:nvSpPr>
        <p:spPr>
          <a:xfrm>
            <a:off x="457200" y="12344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Opinion leader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Influencer estratti con la Degree Centrality.</a:t>
            </a:r>
            <a:endParaRPr lang="en-US" sz="1600" dirty="0"/>
          </a:p>
        </p:txBody>
      </p:sp>
      <p:sp>
        <p:nvSpPr>
          <p:cNvPr id="5" name="Community"/>
          <p:cNvSpPr txBox="1"/>
          <p:nvPr/>
        </p:nvSpPr>
        <p:spPr>
          <a:xfrm>
            <a:off x="457200" y="20574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Community Detection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Partizionamento di Louvain.</a:t>
            </a:r>
            <a:endParaRPr lang="en-US" sz="1600" dirty="0"/>
          </a:p>
        </p:txBody>
      </p:sp>
      <p:sp>
        <p:nvSpPr>
          <p:cNvPr id="6" name="Power-law titolo"/>
          <p:cNvSpPr txBox="1"/>
          <p:nvPr/>
        </p:nvSpPr>
        <p:spPr>
          <a:xfrm>
            <a:off x="457200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Power-Law</a:t>
            </a:r>
            <a:endParaRPr lang="en-US" sz="1600" dirty="0"/>
          </a:p>
        </p:txBody>
      </p:sp>
      <p:sp>
        <p:nvSpPr>
          <p:cNvPr id="7" name="Card 80%"/>
          <p:cNvSpPr/>
          <p:nvPr/>
        </p:nvSpPr>
        <p:spPr>
          <a:xfrm>
            <a:off x="457200" y="3246120"/>
            <a:ext cx="402336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80%"/>
          <p:cNvSpPr txBox="1"/>
          <p:nvPr/>
        </p:nvSpPr>
        <p:spPr>
          <a:xfrm>
            <a:off x="640080" y="32461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400" dirty="0"/>
          </a:p>
        </p:txBody>
      </p:sp>
      <p:sp>
        <p:nvSpPr>
          <p:cNvPr id="9" name="80% testo"/>
          <p:cNvSpPr txBox="1"/>
          <p:nvPr/>
        </p:nvSpPr>
        <p:spPr>
          <a:xfrm>
            <a:off x="2194560" y="32461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degli utenti scrive al massimo 5 recensioni</a:t>
            </a:r>
            <a:endParaRPr lang="en-US" sz="1400" dirty="0"/>
          </a:p>
        </p:txBody>
      </p:sp>
      <p:pic>
        <p:nvPicPr>
          <p:cNvPr id="10" name="Grafo della rete sociale" descr="Grafo della rete soci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280160"/>
            <a:ext cx="3017520" cy="30175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11" name="Didascalia"/>
          <p:cNvSpPr txBox="1"/>
          <p:nvPr/>
        </p:nvSpPr>
        <p:spPr>
          <a:xfrm>
            <a:off x="5303520" y="43891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Spring layout: community detection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Text Mining e sentiment</a:t>
            </a:r>
            <a:endParaRPr lang="en-US" sz="3000" dirty="0"/>
          </a:p>
        </p:txBody>
      </p:sp>
      <p:sp>
        <p:nvSpPr>
          <p:cNvPr id="4" name="Word Cloud"/>
          <p:cNvSpPr txBox="1"/>
          <p:nvPr/>
        </p:nvSpPr>
        <p:spPr>
          <a:xfrm>
            <a:off x="457200" y="12344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Word Cloud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Positive (cortesia, cibo) vs negative (attese, servizio freddo).</a:t>
            </a:r>
            <a:endParaRPr lang="en-US" sz="1600" dirty="0"/>
          </a:p>
        </p:txBody>
      </p:sp>
      <p:sp>
        <p:nvSpPr>
          <p:cNvPr id="5" name="LDA"/>
          <p:cNvSpPr txBox="1"/>
          <p:nvPr/>
        </p:nvSpPr>
        <p:spPr>
          <a:xfrm>
            <a:off x="457200" y="228600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Topic Modeling (LDA)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macro-argomenti: servizio, cibo, attese, prezzo, atmosfera.</a:t>
            </a:r>
            <a:endParaRPr lang="en-US" sz="1600" dirty="0"/>
          </a:p>
        </p:txBody>
      </p:sp>
      <p:sp>
        <p:nvSpPr>
          <p:cNvPr id="6" name="Modelli"/>
          <p:cNvSpPr txBox="1"/>
          <p:nvPr/>
        </p:nvSpPr>
        <p:spPr>
          <a:xfrm>
            <a:off x="457200" y="333756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Modelli predittivi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Logistic Regression con TF-IDF e Multinomial Naive Bayes.</a:t>
            </a:r>
            <a:endParaRPr lang="en-US" sz="1600" dirty="0"/>
          </a:p>
        </p:txBody>
      </p:sp>
      <p:pic>
        <p:nvPicPr>
          <p:cNvPr id="7" name="Dashboard sentiment e LDA" descr="Dashboard sentiment e L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80160"/>
            <a:ext cx="3749040" cy="190195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pic>
        <p:nvPicPr>
          <p:cNvPr id="8" name="Word cloud" descr="Word clou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337560"/>
            <a:ext cx="3749040" cy="13258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Sistemi di raccomandazione ibridi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280160"/>
            <a:ext cx="41148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/>
          <p:nvPr/>
        </p:nvSpPr>
        <p:spPr>
          <a:xfrm>
            <a:off x="594360" y="15270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Numero 1"/>
          <p:cNvSpPr txBox="1"/>
          <p:nvPr/>
        </p:nvSpPr>
        <p:spPr>
          <a:xfrm>
            <a:off x="59436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sto 1"/>
          <p:cNvSpPr txBox="1"/>
          <p:nvPr/>
        </p:nvSpPr>
        <p:spPr>
          <a:xfrm>
            <a:off x="1188720" y="13258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Content-Based (KNN)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Immune al cold-start: usa attributi (parcheggio, cucina, atmosfera), latenza minima.</a:t>
            </a:r>
            <a:endParaRPr lang="en-US" sz="1500" dirty="0"/>
          </a:p>
        </p:txBody>
      </p:sp>
      <p:sp>
        <p:nvSpPr>
          <p:cNvPr id="8" name="Card 2"/>
          <p:cNvSpPr/>
          <p:nvPr/>
        </p:nvSpPr>
        <p:spPr>
          <a:xfrm>
            <a:off x="457200" y="2377440"/>
            <a:ext cx="41148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9" name="Badge 2"/>
          <p:cNvSpPr/>
          <p:nvPr/>
        </p:nvSpPr>
        <p:spPr>
          <a:xfrm>
            <a:off x="594360" y="2624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umero 2"/>
          <p:cNvSpPr txBox="1"/>
          <p:nvPr/>
        </p:nvSpPr>
        <p:spPr>
          <a:xfrm>
            <a:off x="59436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sto 2"/>
          <p:cNvSpPr txBox="1"/>
          <p:nvPr/>
        </p:nvSpPr>
        <p:spPr>
          <a:xfrm>
            <a:off x="1188720" y="2423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Collaborative Filtering (SVD)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Estrae relazioni latenti.</a:t>
            </a:r>
            <a:endParaRPr lang="en-US" sz="1500" dirty="0"/>
          </a:p>
        </p:txBody>
      </p:sp>
      <p:sp>
        <p:nvSpPr>
          <p:cNvPr id="12" name="Card 3"/>
          <p:cNvSpPr/>
          <p:nvPr/>
        </p:nvSpPr>
        <p:spPr>
          <a:xfrm>
            <a:off x="457200" y="3474720"/>
            <a:ext cx="41148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3" name="Badge 3"/>
          <p:cNvSpPr/>
          <p:nvPr/>
        </p:nvSpPr>
        <p:spPr>
          <a:xfrm>
            <a:off x="594360" y="3721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Numero 3"/>
          <p:cNvSpPr txBox="1"/>
          <p:nvPr/>
        </p:nvSpPr>
        <p:spPr>
          <a:xfrm>
            <a:off x="59436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sto 3"/>
          <p:cNvSpPr txBox="1"/>
          <p:nvPr/>
        </p:nvSpPr>
        <p:spPr>
          <a:xfrm>
            <a:off x="1188720" y="35204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Deep Learning (Keras Embeddings)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Massima accuratezza per suggerimenti super-personalizzati.</a:t>
            </a:r>
            <a:endParaRPr lang="en-US" sz="1500" dirty="0"/>
          </a:p>
        </p:txBody>
      </p:sp>
      <p:pic>
        <p:nvPicPr>
          <p:cNvPr id="16" name="Dashboard raccomandazione" descr="Dashboard raccomandazi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463040"/>
            <a:ext cx="3749040" cy="188366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17" name="Didascalia"/>
          <p:cNvSpPr txBox="1"/>
          <p:nvPr/>
        </p:nvSpPr>
        <p:spPr>
          <a:xfrm>
            <a:off x="4937760" y="3474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Dashboard Streamlit: motore di raccomandazione multi-paradigma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Risultati</a:t>
            </a:r>
            <a:endParaRPr lang="en-US" sz="3000" dirty="0"/>
          </a:p>
        </p:txBody>
      </p:sp>
      <p:sp>
        <p:nvSpPr>
          <p:cNvPr id="4" name="Card stat 1"/>
          <p:cNvSpPr/>
          <p:nvPr/>
        </p:nvSpPr>
        <p:spPr>
          <a:xfrm>
            <a:off x="457200" y="118872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tat 1"/>
          <p:cNvSpPr txBox="1"/>
          <p:nvPr/>
        </p:nvSpPr>
        <p:spPr>
          <a:xfrm>
            <a:off x="548640" y="1188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&gt;95%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compressione dati in formato ottimizzato</a:t>
            </a:r>
            <a:endParaRPr lang="en-US" sz="2600" dirty="0"/>
          </a:p>
        </p:txBody>
      </p:sp>
      <p:sp>
        <p:nvSpPr>
          <p:cNvPr id="6" name="Card stat 2"/>
          <p:cNvSpPr/>
          <p:nvPr/>
        </p:nvSpPr>
        <p:spPr>
          <a:xfrm>
            <a:off x="2560320" y="118872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tat 2"/>
          <p:cNvSpPr txBox="1"/>
          <p:nvPr/>
        </p:nvSpPr>
        <p:spPr>
          <a:xfrm>
            <a:off x="2651760" y="1188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0.97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Sentiment (AUC 0.985)</a:t>
            </a:r>
            <a:endParaRPr lang="en-US" sz="2600" dirty="0"/>
          </a:p>
        </p:txBody>
      </p:sp>
      <p:sp>
        <p:nvSpPr>
          <p:cNvPr id="8" name="Card stat 3"/>
          <p:cNvSpPr/>
          <p:nvPr/>
        </p:nvSpPr>
        <p:spPr>
          <a:xfrm>
            <a:off x="4663440" y="118872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tat 3"/>
          <p:cNvSpPr txBox="1"/>
          <p:nvPr/>
        </p:nvSpPr>
        <p:spPr>
          <a:xfrm>
            <a:off x="4754880" y="1188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0.76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errore medio &lt; 1 stella</a:t>
            </a:r>
            <a:endParaRPr lang="en-US" sz="2600" dirty="0"/>
          </a:p>
        </p:txBody>
      </p:sp>
      <p:sp>
        <p:nvSpPr>
          <p:cNvPr id="10" name="Card stat 4"/>
          <p:cNvSpPr/>
          <p:nvPr/>
        </p:nvSpPr>
        <p:spPr>
          <a:xfrm>
            <a:off x="6766560" y="118872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tat 4"/>
          <p:cNvSpPr txBox="1"/>
          <p:nvPr/>
        </p:nvSpPr>
        <p:spPr>
          <a:xfrm>
            <a:off x="6858000" y="1188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 0.94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Deep Learning recommender</a:t>
            </a:r>
            <a:endParaRPr lang="en-US" sz="26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2606040"/>
          <a:ext cx="4297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Box spiegazione"/>
          <p:cNvSpPr/>
          <p:nvPr/>
        </p:nvSpPr>
        <p:spPr>
          <a:xfrm>
            <a:off x="5029200" y="2606040"/>
            <a:ext cx="365760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4" name="Spiegazione"/>
          <p:cNvSpPr txBox="1"/>
          <p:nvPr/>
        </p:nvSpPr>
        <p:spPr>
          <a:xfrm>
            <a:off x="5212080" y="26974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 parole semplici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Il modello neurale sbaglia, in media, di meno di 1 stella (0.76).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KNN risponde in ~55 ms (ideale per app in tempo reale); il Deep Learning impiega ~436 ms: più lento, ma molto più preciso.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Integrazione: Unified Yelp Analytics</a:t>
            </a:r>
            <a:endParaRPr lang="en-US" sz="3000" dirty="0"/>
          </a:p>
        </p:txBody>
      </p:sp>
      <p:pic>
        <p:nvPicPr>
          <p:cNvPr id="4" name="Dashboard benchmark pipeline" descr="Dashboard benchmark pip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572000" cy="236829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5" name="Didascalia"/>
          <p:cNvSpPr txBox="1"/>
          <p:nvPr/>
        </p:nvSpPr>
        <p:spPr>
          <a:xfrm>
            <a:off x="457200" y="3886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Dashboard Streamlit: benchmark pipeline 01-05</a:t>
            </a:r>
            <a:endParaRPr lang="en-US" sz="1000" dirty="0"/>
          </a:p>
        </p:txBody>
      </p:sp>
      <p:sp>
        <p:nvSpPr>
          <p:cNvPr id="6" name="Valore"/>
          <p:cNvSpPr txBox="1"/>
          <p:nvPr/>
        </p:nvSpPr>
        <p:spPr>
          <a:xfrm>
            <a:off x="5394960" y="12344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Valore di business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Integrare LDA e rating per capire perché un locale perde stelle e dove intervenire.</a:t>
            </a:r>
            <a:endParaRPr lang="en-US" sz="1600" dirty="0"/>
          </a:p>
        </p:txBody>
      </p:sp>
      <p:sp>
        <p:nvSpPr>
          <p:cNvPr id="7" name="Trade-off"/>
          <p:cNvSpPr txBox="1"/>
          <p:nvPr/>
        </p:nvSpPr>
        <p:spPr>
          <a:xfrm>
            <a:off x="5394960" y="24231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Trade-off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Latenza vs accuratezza: KNN ~55 ms contro Deep Learning ~436 ms.</a:t>
            </a:r>
            <a:endParaRPr lang="en-US" sz="1600" dirty="0"/>
          </a:p>
        </p:txBody>
      </p:sp>
      <p:sp>
        <p:nvSpPr>
          <p:cNvPr id="8" name="Dashboard"/>
          <p:cNvSpPr txBox="1"/>
          <p:nvPr/>
        </p:nvSpPr>
        <p:spPr>
          <a:xfrm>
            <a:off x="5394960" y="35204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Dashboard unica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Profilazione, sentiment, topic analysis e raccomandazione.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Conclusioni</a:t>
            </a:r>
            <a:endParaRPr lang="en-US" sz="3000" dirty="0"/>
          </a:p>
        </p:txBody>
      </p:sp>
      <p:sp>
        <p:nvSpPr>
          <p:cNvPr id="4" name="Sintesi"/>
          <p:cNvSpPr txBox="1"/>
          <p:nvPr/>
        </p:nvSpPr>
        <p:spPr>
          <a:xfrm>
            <a:off x="457200" y="1188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Problemi superati: totale eliminazione dei crash (Out-Of-Memory) integrando Polars, passando da minuti a millisecondi.</a:t>
            </a:r>
            <a:endParaRPr lang="en-US" sz="1800" dirty="0"/>
          </a:p>
        </p:txBody>
      </p:sp>
      <p:sp>
        <p:nvSpPr>
          <p:cNvPr id="5" name="Pilastro 1"/>
          <p:cNvSpPr/>
          <p:nvPr/>
        </p:nvSpPr>
        <p:spPr>
          <a:xfrm>
            <a:off x="457200" y="2423160"/>
            <a:ext cx="256032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6" name="Icona pilastro 1 sfondo"/>
          <p:cNvSpPr/>
          <p:nvPr/>
        </p:nvSpPr>
        <p:spPr>
          <a:xfrm>
            <a:off x="1463040" y="2606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a pilastro 1" descr="Icona pilastr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6659" y="2759659"/>
            <a:ext cx="241402" cy="241402"/>
          </a:xfrm>
          <a:prstGeom prst="rect">
            <a:avLst/>
          </a:prstGeom>
        </p:spPr>
      </p:pic>
      <p:sp>
        <p:nvSpPr>
          <p:cNvPr id="8" name="Testo pilastro 1"/>
          <p:cNvSpPr txBox="1"/>
          <p:nvPr/>
        </p:nvSpPr>
        <p:spPr>
          <a:xfrm>
            <a:off x="548640" y="3246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Velocità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Da minuti a millisecondi</a:t>
            </a:r>
            <a:endParaRPr lang="en-US" sz="1600" dirty="0"/>
          </a:p>
        </p:txBody>
      </p:sp>
      <p:sp>
        <p:nvSpPr>
          <p:cNvPr id="9" name="Pilastro 2"/>
          <p:cNvSpPr/>
          <p:nvPr/>
        </p:nvSpPr>
        <p:spPr>
          <a:xfrm>
            <a:off x="3291840" y="2423160"/>
            <a:ext cx="256032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0" name="Icona pilastro 2 sfondo"/>
          <p:cNvSpPr/>
          <p:nvPr/>
        </p:nvSpPr>
        <p:spPr>
          <a:xfrm>
            <a:off x="4297680" y="2606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a pilastro 2" descr="Icona pilastr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299" y="2759659"/>
            <a:ext cx="241402" cy="241402"/>
          </a:xfrm>
          <a:prstGeom prst="rect">
            <a:avLst/>
          </a:prstGeom>
        </p:spPr>
      </p:pic>
      <p:sp>
        <p:nvSpPr>
          <p:cNvPr id="12" name="Testo pilastro 2"/>
          <p:cNvSpPr txBox="1"/>
          <p:nvPr/>
        </p:nvSpPr>
        <p:spPr>
          <a:xfrm>
            <a:off x="3383280" y="3246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Modularità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Cinque moduli indipendenti</a:t>
            </a:r>
            <a:endParaRPr lang="en-US" sz="1600" dirty="0"/>
          </a:p>
        </p:txBody>
      </p:sp>
      <p:sp>
        <p:nvSpPr>
          <p:cNvPr id="13" name="Pilastro 3"/>
          <p:cNvSpPr/>
          <p:nvPr/>
        </p:nvSpPr>
        <p:spPr>
          <a:xfrm>
            <a:off x="6126480" y="2423160"/>
            <a:ext cx="256032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4" name="Icona pilastro 3 sfondo"/>
          <p:cNvSpPr/>
          <p:nvPr/>
        </p:nvSpPr>
        <p:spPr>
          <a:xfrm>
            <a:off x="7132320" y="2606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a pilastro 3" descr="Icona pilastr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39" y="2759659"/>
            <a:ext cx="241402" cy="241402"/>
          </a:xfrm>
          <a:prstGeom prst="rect">
            <a:avLst/>
          </a:prstGeom>
        </p:spPr>
      </p:pic>
      <p:sp>
        <p:nvSpPr>
          <p:cNvPr id="16" name="Testo pilastro 3"/>
          <p:cNvSpPr txBox="1"/>
          <p:nvPr/>
        </p:nvSpPr>
        <p:spPr>
          <a:xfrm>
            <a:off x="6217920" y="3246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Completezza analitica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Dall'ingestion alla BI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elp Pipeline">
  <a:themeElements>
    <a:clrScheme name="Yelp Pipeline">
      <a:dk1>
        <a:srgbClr val="1F2030"/>
      </a:dk1>
      <a:lt1>
        <a:srgbClr val="FFFFFF"/>
      </a:lt1>
      <a:dk2>
        <a:srgbClr val="2E3047"/>
      </a:dk2>
      <a:lt2>
        <a:srgbClr val="F3F3F6"/>
      </a:lt2>
      <a:accent1>
        <a:srgbClr val="D32323"/>
      </a:accent1>
      <a:accent2>
        <a:srgbClr val="F2A541"/>
      </a:accent2>
      <a:accent3>
        <a:srgbClr val="3A7CA5"/>
      </a:accent3>
      <a:accent4>
        <a:srgbClr val="6B7280"/>
      </a:accent4>
      <a:accent5>
        <a:srgbClr val="2E9E6B"/>
      </a:accent5>
      <a:accent6>
        <a:srgbClr val="8E5BA8"/>
      </a:accent6>
      <a:hlink>
        <a:srgbClr val="D32323"/>
      </a:hlink>
      <a:folHlink>
        <a:srgbClr val="6B7280"/>
      </a:folHlink>
    </a:clrScheme>
    <a:fontScheme name="Yelp Pipel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Analitica Integrata per il Dataset Yelp</dc:title>
  <dc:subject>PptxGenJS Presentation</dc:subject>
  <dc:creator>Valerio Fiorentini</dc:creator>
  <cp:lastModifiedBy>Valerio Fiorentini</cp:lastModifiedBy>
  <cp:revision>1</cp:revision>
  <dcterms:created xsi:type="dcterms:W3CDTF">2026-10-05T11:26:26Z</dcterms:created>
  <dcterms:modified xsi:type="dcterms:W3CDTF">2026-10-05T11:26:26Z</dcterms:modified>
</cp:coreProperties>
</file>