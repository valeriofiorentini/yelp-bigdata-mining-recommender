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zione" id="{26a50b56-a3af-8681-32b8-35be6ad7707c}">
          <p14:sldIdLst>
            <p14:sldId id="256"/>
            <p14:sldId id="257"/>
            <p14:sldId id="258"/>
          </p14:sldIdLst>
        </p14:section>
        <p14:section name="Analisi" id="{5be1920f-ed54-f280-7314-9cea6220bf76}">
          <p14:sldIdLst>
            <p14:sldId id="259"/>
            <p14:sldId id="260"/>
            <p14:sldId id="261"/>
          </p14:sldIdLst>
        </p14:section>
        <p14:section name="Modelli" id="{86d279b7-500b-42b7-ac72-3fe1d3918b0f}">
          <p14:sldIdLst>
            <p14:sldId id="262"/>
          </p14:sldIdLst>
        </p14:section>
        <p14:section name="Risultati" id="{190df519-69e2-494e-fe55-e66754c28a8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03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030"/>
                </a:solidFill>
                <a:latin typeface="+mn-lt"/>
              </a:rPr>
              <a:t>Latenza di risposta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Latenza (ms)</c:v>
                </c:pt>
              </c:strCache>
            </c:strRef>
          </c:tx>
          <c:spPr>
            <a:solidFill>
              <a:srgbClr val="D323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0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3232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203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KNN</c:v>
                  </c:pt>
                  <c:pt idx="1">
                    <c:v>Deep Learning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436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0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0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4864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5486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Sistemi Intelligenti per Internet  ·  Pipeline Yelp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rso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SISTEMI INTELLIGENTI PER INTERNET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Pipeline Analitica Integrata su Larga Scala per il Dataset Yelp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175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Big Data &amp; Machine Learning: dall'Ingestion al Deep Learning, una soluzione scalabile e modulare</a:t>
            </a:r>
            <a:endParaRPr lang="en-US" sz="1600" dirty="0"/>
          </a:p>
        </p:txBody>
      </p:sp>
      <p:sp>
        <p:nvSpPr>
          <p:cNvPr id="5" name="Autore"/>
          <p:cNvSpPr txBox="1"/>
          <p:nvPr/>
        </p:nvSpPr>
        <p:spPr>
          <a:xfrm>
            <a:off x="54864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Valerio Fiorentini  |  Matricola 641622</a:t>
            </a:r>
            <a:endParaRPr lang="en-US" sz="1400" dirty="0"/>
          </a:p>
        </p:txBody>
      </p:sp>
      <p:sp>
        <p:nvSpPr>
          <p:cNvPr id="6" name="Cerchio"/>
          <p:cNvSpPr/>
          <p:nvPr/>
        </p:nvSpPr>
        <p:spPr>
          <a:xfrm>
            <a:off x="6309360" y="1097280"/>
            <a:ext cx="2651760" cy="2651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at copertina"/>
          <p:cNvSpPr txBox="1"/>
          <p:nvPr/>
        </p:nvSpPr>
        <p:spPr>
          <a:xfrm>
            <a:off x="6309360" y="109728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GB</a:t>
            </a:r>
            <a:endParaRPr lang="en-US" sz="36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→ 50–80 MB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sfide del dataset Yelp</a:t>
            </a:r>
            <a:endParaRPr lang="en-US" sz="3000" dirty="0"/>
          </a:p>
        </p:txBody>
      </p:sp>
      <p:sp>
        <p:nvSpPr>
          <p:cNvPr id="3" name="Riga 1"/>
          <p:cNvSpPr/>
          <p:nvPr/>
        </p:nvSpPr>
        <p:spPr>
          <a:xfrm>
            <a:off x="457200" y="1325880"/>
            <a:ext cx="52120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Icona 1 sfondo"/>
          <p:cNvSpPr/>
          <p:nvPr/>
        </p:nvSpPr>
        <p:spPr>
          <a:xfrm>
            <a:off x="64008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a 1" descr="Icona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" y="1662379"/>
            <a:ext cx="241402" cy="241402"/>
          </a:xfrm>
          <a:prstGeom prst="rect">
            <a:avLst/>
          </a:prstGeom>
        </p:spPr>
      </p:pic>
      <p:sp>
        <p:nvSpPr>
          <p:cNvPr id="6" name="Testo 1"/>
          <p:cNvSpPr txBox="1"/>
          <p:nvPr/>
        </p:nvSpPr>
        <p:spPr>
          <a:xfrm>
            <a:off x="1371600" y="139903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Saturazione della RAM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Dati grezzi così pesanti da causare errori di Out of Memory.</a:t>
            </a:r>
            <a:endParaRPr lang="en-US" sz="1600" dirty="0"/>
          </a:p>
        </p:txBody>
      </p:sp>
      <p:sp>
        <p:nvSpPr>
          <p:cNvPr id="7" name="Riga 2"/>
          <p:cNvSpPr/>
          <p:nvPr/>
        </p:nvSpPr>
        <p:spPr>
          <a:xfrm>
            <a:off x="457200" y="2423160"/>
            <a:ext cx="52120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8" name="Icona 2 sfondo"/>
          <p:cNvSpPr/>
          <p:nvPr/>
        </p:nvSpPr>
        <p:spPr>
          <a:xfrm>
            <a:off x="64008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a 2" descr="Icona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" y="2759659"/>
            <a:ext cx="241402" cy="241402"/>
          </a:xfrm>
          <a:prstGeom prst="rect">
            <a:avLst/>
          </a:prstGeom>
        </p:spPr>
      </p:pic>
      <p:sp>
        <p:nvSpPr>
          <p:cNvPr id="10" name="Testo 2"/>
          <p:cNvSpPr txBox="1"/>
          <p:nvPr/>
        </p:nvSpPr>
        <p:spPr>
          <a:xfrm>
            <a:off x="1371600" y="249631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Codice lento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Elaborazioni sequenziali con tempi di risposta troppo lunghi.</a:t>
            </a:r>
            <a:endParaRPr lang="en-US" sz="1600" dirty="0"/>
          </a:p>
        </p:txBody>
      </p:sp>
      <p:sp>
        <p:nvSpPr>
          <p:cNvPr id="11" name="Riga 3"/>
          <p:cNvSpPr/>
          <p:nvPr/>
        </p:nvSpPr>
        <p:spPr>
          <a:xfrm>
            <a:off x="457200" y="3520440"/>
            <a:ext cx="52120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Icona 3 sfondo"/>
          <p:cNvSpPr/>
          <p:nvPr/>
        </p:nvSpPr>
        <p:spPr>
          <a:xfrm>
            <a:off x="64008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a 3" descr="Icona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99" y="3856939"/>
            <a:ext cx="241402" cy="241402"/>
          </a:xfrm>
          <a:prstGeom prst="rect">
            <a:avLst/>
          </a:prstGeom>
        </p:spPr>
      </p:pic>
      <p:sp>
        <p:nvSpPr>
          <p:cNvPr id="14" name="Testo 3"/>
          <p:cNvSpPr txBox="1"/>
          <p:nvPr/>
        </p:nvSpPr>
        <p:spPr>
          <a:xfrm>
            <a:off x="1371600" y="359359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Soluzione: Polars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Elaborazione multi-core, senza colli di bottiglia.</a:t>
            </a:r>
            <a:endParaRPr lang="en-US" sz="1600" dirty="0"/>
          </a:p>
        </p:txBody>
      </p:sp>
      <p:sp>
        <p:nvSpPr>
          <p:cNvPr id="15" name="Card statistica"/>
          <p:cNvSpPr/>
          <p:nvPr/>
        </p:nvSpPr>
        <p:spPr>
          <a:xfrm>
            <a:off x="6126480" y="1325880"/>
            <a:ext cx="2560320" cy="3108960"/>
          </a:xfrm>
          <a:prstGeom prst="roundRect">
            <a:avLst>
              <a:gd name="adj" fmla="val 4286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tatistica 5 GB"/>
          <p:cNvSpPr txBox="1"/>
          <p:nvPr/>
        </p:nvSpPr>
        <p:spPr>
          <a:xfrm>
            <a:off x="6309360" y="1325880"/>
            <a:ext cx="2194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GB</a:t>
            </a:r>
            <a:endParaRPr lang="en-US" sz="5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 dati grezzi che mandavano in crash la RAM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Architettura della soluzione</a:t>
            </a:r>
            <a:endParaRPr lang="en-US" sz="3000" dirty="0"/>
          </a:p>
        </p:txBody>
      </p:sp>
      <p:sp>
        <p:nvSpPr>
          <p:cNvPr id="3" name="Fase 1"/>
          <p:cNvSpPr/>
          <p:nvPr/>
        </p:nvSpPr>
        <p:spPr>
          <a:xfrm>
            <a:off x="457200" y="12801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4" name="Numero 1"/>
          <p:cNvSpPr txBox="1"/>
          <p:nvPr/>
        </p:nvSpPr>
        <p:spPr>
          <a:xfrm>
            <a:off x="457200" y="1344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01</a:t>
            </a:r>
            <a:endParaRPr lang="en-US" sz="1100" dirty="0"/>
          </a:p>
        </p:txBody>
      </p:sp>
      <p:sp>
        <p:nvSpPr>
          <p:cNvPr id="5" name="Icona fase 1 sfondo"/>
          <p:cNvSpPr/>
          <p:nvPr/>
        </p:nvSpPr>
        <p:spPr>
          <a:xfrm>
            <a:off x="91440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a fase 1" descr="Icona fas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753819"/>
            <a:ext cx="241402" cy="241402"/>
          </a:xfrm>
          <a:prstGeom prst="rect">
            <a:avLst/>
          </a:prstGeom>
        </p:spPr>
      </p:pic>
      <p:sp>
        <p:nvSpPr>
          <p:cNvPr id="7" name="Nome fase 1"/>
          <p:cNvSpPr txBox="1"/>
          <p:nvPr/>
        </p:nvSpPr>
        <p:spPr>
          <a:xfrm>
            <a:off x="45720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Ingestion</a:t>
            </a:r>
            <a:endParaRPr lang="en-US" sz="1400" dirty="0"/>
          </a:p>
        </p:txBody>
      </p:sp>
      <p:sp>
        <p:nvSpPr>
          <p:cNvPr id="8" name="Freccia 1"/>
          <p:cNvSpPr/>
          <p:nvPr/>
        </p:nvSpPr>
        <p:spPr>
          <a:xfrm>
            <a:off x="1956816" y="1938528"/>
            <a:ext cx="155448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9" name="Fase 2"/>
          <p:cNvSpPr/>
          <p:nvPr/>
        </p:nvSpPr>
        <p:spPr>
          <a:xfrm>
            <a:off x="2148840" y="12801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0" name="Numero 2"/>
          <p:cNvSpPr txBox="1"/>
          <p:nvPr/>
        </p:nvSpPr>
        <p:spPr>
          <a:xfrm>
            <a:off x="2148840" y="1344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Icona fase 2 sfondo"/>
          <p:cNvSpPr/>
          <p:nvPr/>
        </p:nvSpPr>
        <p:spPr>
          <a:xfrm>
            <a:off x="260604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a fase 2" descr="Icona fas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659" y="1753819"/>
            <a:ext cx="241402" cy="241402"/>
          </a:xfrm>
          <a:prstGeom prst="rect">
            <a:avLst/>
          </a:prstGeom>
        </p:spPr>
      </p:pic>
      <p:sp>
        <p:nvSpPr>
          <p:cNvPr id="13" name="Nome fase 2"/>
          <p:cNvSpPr txBox="1"/>
          <p:nvPr/>
        </p:nvSpPr>
        <p:spPr>
          <a:xfrm>
            <a:off x="214884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EDA &amp; SNA</a:t>
            </a:r>
            <a:endParaRPr lang="en-US" sz="1400" dirty="0"/>
          </a:p>
        </p:txBody>
      </p:sp>
      <p:sp>
        <p:nvSpPr>
          <p:cNvPr id="14" name="Freccia 2"/>
          <p:cNvSpPr/>
          <p:nvPr/>
        </p:nvSpPr>
        <p:spPr>
          <a:xfrm>
            <a:off x="3648456" y="1938528"/>
            <a:ext cx="155448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5" name="Fase 3"/>
          <p:cNvSpPr/>
          <p:nvPr/>
        </p:nvSpPr>
        <p:spPr>
          <a:xfrm>
            <a:off x="3840480" y="12801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6" name="Numero 3"/>
          <p:cNvSpPr txBox="1"/>
          <p:nvPr/>
        </p:nvSpPr>
        <p:spPr>
          <a:xfrm>
            <a:off x="3840480" y="1344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03</a:t>
            </a:r>
            <a:endParaRPr lang="en-US" sz="1100" dirty="0"/>
          </a:p>
        </p:txBody>
      </p:sp>
      <p:sp>
        <p:nvSpPr>
          <p:cNvPr id="17" name="Icona fase 3 sfondo"/>
          <p:cNvSpPr/>
          <p:nvPr/>
        </p:nvSpPr>
        <p:spPr>
          <a:xfrm>
            <a:off x="429768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a fase 3" descr="Icona fas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299" y="1753819"/>
            <a:ext cx="241402" cy="241402"/>
          </a:xfrm>
          <a:prstGeom prst="rect">
            <a:avLst/>
          </a:prstGeom>
        </p:spPr>
      </p:pic>
      <p:sp>
        <p:nvSpPr>
          <p:cNvPr id="19" name="Nome fase 3"/>
          <p:cNvSpPr txBox="1"/>
          <p:nvPr/>
        </p:nvSpPr>
        <p:spPr>
          <a:xfrm>
            <a:off x="384048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NLP</a:t>
            </a:r>
            <a:endParaRPr lang="en-US" sz="1400" dirty="0"/>
          </a:p>
        </p:txBody>
      </p:sp>
      <p:sp>
        <p:nvSpPr>
          <p:cNvPr id="20" name="Freccia 3"/>
          <p:cNvSpPr/>
          <p:nvPr/>
        </p:nvSpPr>
        <p:spPr>
          <a:xfrm>
            <a:off x="5340096" y="1938528"/>
            <a:ext cx="155448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1" name="Fase 4"/>
          <p:cNvSpPr/>
          <p:nvPr/>
        </p:nvSpPr>
        <p:spPr>
          <a:xfrm>
            <a:off x="5532120" y="12801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22" name="Numero 4"/>
          <p:cNvSpPr txBox="1"/>
          <p:nvPr/>
        </p:nvSpPr>
        <p:spPr>
          <a:xfrm>
            <a:off x="5532120" y="1344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04</a:t>
            </a:r>
            <a:endParaRPr lang="en-US" sz="1100" dirty="0"/>
          </a:p>
        </p:txBody>
      </p:sp>
      <p:sp>
        <p:nvSpPr>
          <p:cNvPr id="23" name="Icona fase 4 sfondo"/>
          <p:cNvSpPr/>
          <p:nvPr/>
        </p:nvSpPr>
        <p:spPr>
          <a:xfrm>
            <a:off x="598932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a fase 4" descr="Icona fas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2939" y="1753819"/>
            <a:ext cx="241402" cy="241402"/>
          </a:xfrm>
          <a:prstGeom prst="rect">
            <a:avLst/>
          </a:prstGeom>
        </p:spPr>
      </p:pic>
      <p:sp>
        <p:nvSpPr>
          <p:cNvPr id="25" name="Nome fase 4"/>
          <p:cNvSpPr txBox="1"/>
          <p:nvPr/>
        </p:nvSpPr>
        <p:spPr>
          <a:xfrm>
            <a:off x="553212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Recommender</a:t>
            </a:r>
            <a:endParaRPr lang="en-US" sz="1400" dirty="0"/>
          </a:p>
        </p:txBody>
      </p:sp>
      <p:sp>
        <p:nvSpPr>
          <p:cNvPr id="26" name="Freccia 4"/>
          <p:cNvSpPr/>
          <p:nvPr/>
        </p:nvSpPr>
        <p:spPr>
          <a:xfrm>
            <a:off x="7031736" y="1938528"/>
            <a:ext cx="155448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7" name="Fase 5"/>
          <p:cNvSpPr/>
          <p:nvPr/>
        </p:nvSpPr>
        <p:spPr>
          <a:xfrm>
            <a:off x="7223760" y="1280160"/>
            <a:ext cx="1463040" cy="15087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28" name="Numero 5"/>
          <p:cNvSpPr txBox="1"/>
          <p:nvPr/>
        </p:nvSpPr>
        <p:spPr>
          <a:xfrm>
            <a:off x="7223760" y="1344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05</a:t>
            </a:r>
            <a:endParaRPr lang="en-US" sz="1100" dirty="0"/>
          </a:p>
        </p:txBody>
      </p:sp>
      <p:sp>
        <p:nvSpPr>
          <p:cNvPr id="29" name="Icona fase 5 sfondo"/>
          <p:cNvSpPr/>
          <p:nvPr/>
        </p:nvSpPr>
        <p:spPr>
          <a:xfrm>
            <a:off x="768096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a fase 5" descr="Icona fase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79" y="1753819"/>
            <a:ext cx="241402" cy="241402"/>
          </a:xfrm>
          <a:prstGeom prst="rect">
            <a:avLst/>
          </a:prstGeom>
        </p:spPr>
      </p:pic>
      <p:sp>
        <p:nvSpPr>
          <p:cNvPr id="31" name="Nome fase 5"/>
          <p:cNvSpPr txBox="1"/>
          <p:nvPr/>
        </p:nvSpPr>
        <p:spPr>
          <a:xfrm>
            <a:off x="722376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</a:t>
            </a:r>
            <a:endParaRPr lang="en-US" sz="1400" dirty="0"/>
          </a:p>
        </p:txBody>
      </p:sp>
      <p:sp>
        <p:nvSpPr>
          <p:cNvPr id="32" name="Artifact layer"/>
          <p:cNvSpPr/>
          <p:nvPr/>
        </p:nvSpPr>
        <p:spPr>
          <a:xfrm>
            <a:off x="457200" y="3017520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/>
        </p:spPr>
      </p:sp>
      <p:sp>
        <p:nvSpPr>
          <p:cNvPr id="33" name="Artifact layer testo"/>
          <p:cNvSpPr txBox="1"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Artifact Layer su Google Drive</a:t>
            </a:r>
            <a:endParaRPr lang="en-US" sz="1600" dirty="0"/>
          </a:p>
        </p:txBody>
      </p:sp>
      <p:sp>
        <p:nvSpPr>
          <p:cNvPr id="34" name="Icona Polars sfondo"/>
          <p:cNvSpPr/>
          <p:nvPr/>
        </p:nvSpPr>
        <p:spPr>
          <a:xfrm>
            <a:off x="457200" y="3794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cona Polars" descr="Icona Pola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819" y="3948379"/>
            <a:ext cx="241402" cy="241402"/>
          </a:xfrm>
          <a:prstGeom prst="rect">
            <a:avLst/>
          </a:prstGeom>
        </p:spPr>
      </p:pic>
      <p:sp>
        <p:nvSpPr>
          <p:cNvPr id="36" name="Nota Polars"/>
          <p:cNvSpPr txBox="1"/>
          <p:nvPr/>
        </p:nvSpPr>
        <p:spPr>
          <a:xfrm>
            <a:off x="1188720" y="37033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Adattabilità hardware: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ottimizzazione totale grazie all'engine in Rust di Polars, per caricamenti quasi istantanei e aggregazioni OOM-free.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Ingestion, EDA e geospaziale</a:t>
            </a:r>
            <a:endParaRPr lang="en-US" sz="3000" dirty="0"/>
          </a:p>
        </p:txBody>
      </p:sp>
      <p:sp>
        <p:nvSpPr>
          <p:cNvPr id="3" name="Ingestion"/>
          <p:cNvSpPr txBox="1"/>
          <p:nvPr/>
        </p:nvSpPr>
        <p:spPr>
          <a:xfrm>
            <a:off x="457200" y="12801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Ingestion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Filtro rapido sul settore Food/Ristorazione.</a:t>
            </a:r>
            <a:endParaRPr lang="en-US" sz="1600" dirty="0"/>
          </a:p>
        </p:txBody>
      </p:sp>
      <p:sp>
        <p:nvSpPr>
          <p:cNvPr id="4" name="Dinamiche"/>
          <p:cNvSpPr txBox="1"/>
          <p:nvPr/>
        </p:nvSpPr>
        <p:spPr>
          <a:xfrm>
            <a:off x="457200" y="228600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Dinamiche temporali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Picchi di affluenza individuati con matrici (venerdì e sabato sera).</a:t>
            </a:r>
            <a:endParaRPr lang="en-US" sz="1600" dirty="0"/>
          </a:p>
        </p:txBody>
      </p:sp>
      <p:sp>
        <p:nvSpPr>
          <p:cNvPr id="5" name="Cartografia"/>
          <p:cNvSpPr txBox="1"/>
          <p:nvPr/>
        </p:nvSpPr>
        <p:spPr>
          <a:xfrm>
            <a:off x="457200" y="329184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Cartografia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Confronto tra reti urbane (Las Vegas ortogonale vs città europee) e mappe interattive Folium.</a:t>
            </a:r>
            <a:endParaRPr lang="en-US" sz="1600" dirty="0"/>
          </a:p>
        </p:txBody>
      </p:sp>
      <p:pic>
        <p:nvPicPr>
          <p:cNvPr id="6" name="Dashboard Streamlit geospaziale" descr="Dashboard Streamlit geospazi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4206240" cy="221284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7" name="Didascalia"/>
          <p:cNvSpPr txBox="1"/>
          <p:nvPr/>
        </p:nvSpPr>
        <p:spPr>
          <a:xfrm>
            <a:off x="4480560" y="3703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Dashboard Streamlit: esplorazione geospaziale (Philadelphia)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Social Network Analysis</a:t>
            </a:r>
            <a:endParaRPr lang="en-US" sz="3000" dirty="0"/>
          </a:p>
        </p:txBody>
      </p:sp>
      <p:sp>
        <p:nvSpPr>
          <p:cNvPr id="3" name="Opinion leader"/>
          <p:cNvSpPr txBox="1"/>
          <p:nvPr/>
        </p:nvSpPr>
        <p:spPr>
          <a:xfrm>
            <a:off x="457200" y="123444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Opinion leader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Influencer estratti con la Degree Centrality.</a:t>
            </a:r>
            <a:endParaRPr lang="en-US" sz="1600" dirty="0"/>
          </a:p>
        </p:txBody>
      </p:sp>
      <p:sp>
        <p:nvSpPr>
          <p:cNvPr id="4" name="Community"/>
          <p:cNvSpPr txBox="1"/>
          <p:nvPr/>
        </p:nvSpPr>
        <p:spPr>
          <a:xfrm>
            <a:off x="457200" y="205740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Community Detection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Partizionamento di Louvain.</a:t>
            </a:r>
            <a:endParaRPr lang="en-US" sz="1600" dirty="0"/>
          </a:p>
        </p:txBody>
      </p:sp>
      <p:sp>
        <p:nvSpPr>
          <p:cNvPr id="5" name="Power-law titolo"/>
          <p:cNvSpPr txBox="1"/>
          <p:nvPr/>
        </p:nvSpPr>
        <p:spPr>
          <a:xfrm>
            <a:off x="457200" y="2880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Power-Law</a:t>
            </a:r>
            <a:endParaRPr lang="en-US" sz="1600" dirty="0"/>
          </a:p>
        </p:txBody>
      </p:sp>
      <p:sp>
        <p:nvSpPr>
          <p:cNvPr id="6" name="Card 80%"/>
          <p:cNvSpPr/>
          <p:nvPr/>
        </p:nvSpPr>
        <p:spPr>
          <a:xfrm>
            <a:off x="457200" y="3246120"/>
            <a:ext cx="402336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80%"/>
          <p:cNvSpPr txBox="1"/>
          <p:nvPr/>
        </p:nvSpPr>
        <p:spPr>
          <a:xfrm>
            <a:off x="640080" y="32461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4400" dirty="0"/>
          </a:p>
        </p:txBody>
      </p:sp>
      <p:sp>
        <p:nvSpPr>
          <p:cNvPr id="8" name="80% testo"/>
          <p:cNvSpPr txBox="1"/>
          <p:nvPr/>
        </p:nvSpPr>
        <p:spPr>
          <a:xfrm>
            <a:off x="2194560" y="32461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degli utenti scrive al massimo 5 recensioni</a:t>
            </a:r>
            <a:endParaRPr lang="en-US" sz="1400" dirty="0"/>
          </a:p>
        </p:txBody>
      </p:sp>
      <p:pic>
        <p:nvPicPr>
          <p:cNvPr id="9" name="Grafo della rete sociale" descr="Grafo della rete soci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280160"/>
            <a:ext cx="3017520" cy="30175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10" name="Didascalia"/>
          <p:cNvSpPr txBox="1"/>
          <p:nvPr/>
        </p:nvSpPr>
        <p:spPr>
          <a:xfrm>
            <a:off x="5303520" y="43891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Spring layout: community detection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Text Mining e sentiment</a:t>
            </a:r>
            <a:endParaRPr lang="en-US" sz="3000" dirty="0"/>
          </a:p>
        </p:txBody>
      </p:sp>
      <p:sp>
        <p:nvSpPr>
          <p:cNvPr id="3" name="Word Cloud"/>
          <p:cNvSpPr txBox="1"/>
          <p:nvPr/>
        </p:nvSpPr>
        <p:spPr>
          <a:xfrm>
            <a:off x="457200" y="12344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Word Cloud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Positive (cortesia, cibo) vs negative (attese, servizio freddo).</a:t>
            </a:r>
            <a:endParaRPr lang="en-US" sz="1600" dirty="0"/>
          </a:p>
        </p:txBody>
      </p:sp>
      <p:sp>
        <p:nvSpPr>
          <p:cNvPr id="4" name="LDA"/>
          <p:cNvSpPr txBox="1"/>
          <p:nvPr/>
        </p:nvSpPr>
        <p:spPr>
          <a:xfrm>
            <a:off x="457200" y="228600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Topic Modeling (LDA)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macro-argomenti: servizio, cibo, attese, prezzo, atmosfera.</a:t>
            </a:r>
            <a:endParaRPr lang="en-US" sz="1600" dirty="0"/>
          </a:p>
        </p:txBody>
      </p:sp>
      <p:sp>
        <p:nvSpPr>
          <p:cNvPr id="5" name="Modelli"/>
          <p:cNvSpPr txBox="1"/>
          <p:nvPr/>
        </p:nvSpPr>
        <p:spPr>
          <a:xfrm>
            <a:off x="457200" y="3337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Modelli predittivi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Logistic Regression con TF-IDF e Multinomial Naive Bayes.</a:t>
            </a:r>
            <a:endParaRPr lang="en-US" sz="1600" dirty="0"/>
          </a:p>
        </p:txBody>
      </p:sp>
      <p:pic>
        <p:nvPicPr>
          <p:cNvPr id="6" name="Dashboard sentiment e LDA" descr="Dashboard sentiment e L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280160"/>
            <a:ext cx="3749040" cy="1901952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pic>
        <p:nvPicPr>
          <p:cNvPr id="7" name="Word cloud" descr="Word 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337560"/>
            <a:ext cx="3749040" cy="13258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Sistemi di raccomandazione ibridi</a:t>
            </a:r>
            <a:endParaRPr lang="en-US" sz="3000" dirty="0"/>
          </a:p>
        </p:txBody>
      </p:sp>
      <p:sp>
        <p:nvSpPr>
          <p:cNvPr id="3" name="Card 1"/>
          <p:cNvSpPr/>
          <p:nvPr/>
        </p:nvSpPr>
        <p:spPr>
          <a:xfrm>
            <a:off x="457200" y="1280160"/>
            <a:ext cx="41148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4" name="Badge 1"/>
          <p:cNvSpPr/>
          <p:nvPr/>
        </p:nvSpPr>
        <p:spPr>
          <a:xfrm>
            <a:off x="594360" y="15270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Numero 1"/>
          <p:cNvSpPr txBox="1"/>
          <p:nvPr/>
        </p:nvSpPr>
        <p:spPr>
          <a:xfrm>
            <a:off x="594360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sto 1"/>
          <p:cNvSpPr txBox="1"/>
          <p:nvPr/>
        </p:nvSpPr>
        <p:spPr>
          <a:xfrm>
            <a:off x="1188720" y="13258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Content-Based (KNN)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Immune al cold-start: usa attributi (parcheggio, cucina, atmosfera), latenza minima.</a:t>
            </a:r>
            <a:endParaRPr lang="en-US" sz="1400" dirty="0"/>
          </a:p>
        </p:txBody>
      </p:sp>
      <p:sp>
        <p:nvSpPr>
          <p:cNvPr id="7" name="Card 2"/>
          <p:cNvSpPr/>
          <p:nvPr/>
        </p:nvSpPr>
        <p:spPr>
          <a:xfrm>
            <a:off x="457200" y="2377440"/>
            <a:ext cx="41148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8" name="Badge 2"/>
          <p:cNvSpPr/>
          <p:nvPr/>
        </p:nvSpPr>
        <p:spPr>
          <a:xfrm>
            <a:off x="594360" y="2624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Numero 2"/>
          <p:cNvSpPr txBox="1"/>
          <p:nvPr/>
        </p:nvSpPr>
        <p:spPr>
          <a:xfrm>
            <a:off x="5943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sto 2"/>
          <p:cNvSpPr txBox="1"/>
          <p:nvPr/>
        </p:nvSpPr>
        <p:spPr>
          <a:xfrm>
            <a:off x="1188720" y="24231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Collaborative Filtering (SVD)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Estrae relazioni latenti.</a:t>
            </a:r>
            <a:endParaRPr lang="en-US" sz="1400" dirty="0"/>
          </a:p>
        </p:txBody>
      </p:sp>
      <p:sp>
        <p:nvSpPr>
          <p:cNvPr id="11" name="Card 3"/>
          <p:cNvSpPr/>
          <p:nvPr/>
        </p:nvSpPr>
        <p:spPr>
          <a:xfrm>
            <a:off x="457200" y="3474720"/>
            <a:ext cx="41148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12" name="Badge 3"/>
          <p:cNvSpPr/>
          <p:nvPr/>
        </p:nvSpPr>
        <p:spPr>
          <a:xfrm>
            <a:off x="594360" y="3721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Numero 3"/>
          <p:cNvSpPr txBox="1"/>
          <p:nvPr/>
        </p:nvSpPr>
        <p:spPr>
          <a:xfrm>
            <a:off x="594360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sto 3"/>
          <p:cNvSpPr txBox="1"/>
          <p:nvPr/>
        </p:nvSpPr>
        <p:spPr>
          <a:xfrm>
            <a:off x="1188720" y="35204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Deep Learning (Keras Embeddings)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Massima accuratezza per suggerimenti super-personalizzati.</a:t>
            </a:r>
            <a:endParaRPr lang="en-US" sz="1400" dirty="0"/>
          </a:p>
        </p:txBody>
      </p:sp>
      <p:pic>
        <p:nvPicPr>
          <p:cNvPr id="15" name="Dashboard raccomandazione" descr="Dashboard raccomandazi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463040"/>
            <a:ext cx="3749040" cy="1883664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16" name="Didascalia"/>
          <p:cNvSpPr txBox="1"/>
          <p:nvPr/>
        </p:nvSpPr>
        <p:spPr>
          <a:xfrm>
            <a:off x="4937760" y="34747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Dashboard Streamlit: motore di raccomandazione multi-paradigma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Risultati</a:t>
            </a:r>
            <a:endParaRPr lang="en-US" sz="3000" dirty="0"/>
          </a:p>
        </p:txBody>
      </p:sp>
      <p:sp>
        <p:nvSpPr>
          <p:cNvPr id="3" name="Card stat 1"/>
          <p:cNvSpPr/>
          <p:nvPr/>
        </p:nvSpPr>
        <p:spPr>
          <a:xfrm>
            <a:off x="457200" y="1188720"/>
            <a:ext cx="192024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tat 1"/>
          <p:cNvSpPr txBox="1"/>
          <p:nvPr/>
        </p:nvSpPr>
        <p:spPr>
          <a:xfrm>
            <a:off x="548640" y="11887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&gt;95%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compressione dati: 5 GB → 50-80 MB</a:t>
            </a:r>
            <a:endParaRPr lang="en-US" sz="2600" dirty="0"/>
          </a:p>
        </p:txBody>
      </p:sp>
      <p:sp>
        <p:nvSpPr>
          <p:cNvPr id="5" name="Card stat 2"/>
          <p:cNvSpPr/>
          <p:nvPr/>
        </p:nvSpPr>
        <p:spPr>
          <a:xfrm>
            <a:off x="2560320" y="1188720"/>
            <a:ext cx="1920240" cy="1188720"/>
          </a:xfrm>
          <a:prstGeom prst="roundRect">
            <a:avLst>
              <a:gd name="adj" fmla="val 769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tat 2"/>
          <p:cNvSpPr txBox="1"/>
          <p:nvPr/>
        </p:nvSpPr>
        <p:spPr>
          <a:xfrm>
            <a:off x="2651760" y="11887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0.97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Sentiment (AUC 0.985)</a:t>
            </a:r>
            <a:endParaRPr lang="en-US" sz="2600" dirty="0"/>
          </a:p>
        </p:txBody>
      </p:sp>
      <p:sp>
        <p:nvSpPr>
          <p:cNvPr id="7" name="Card stat 3"/>
          <p:cNvSpPr/>
          <p:nvPr/>
        </p:nvSpPr>
        <p:spPr>
          <a:xfrm>
            <a:off x="4663440" y="1188720"/>
            <a:ext cx="1920240" cy="1188720"/>
          </a:xfrm>
          <a:prstGeom prst="roundRect">
            <a:avLst>
              <a:gd name="adj" fmla="val 769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tat 3"/>
          <p:cNvSpPr txBox="1"/>
          <p:nvPr/>
        </p:nvSpPr>
        <p:spPr>
          <a:xfrm>
            <a:off x="4754880" y="11887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 0.76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errore medio &lt; 1 stella</a:t>
            </a:r>
            <a:endParaRPr lang="en-US" sz="2600" dirty="0"/>
          </a:p>
        </p:txBody>
      </p:sp>
      <p:sp>
        <p:nvSpPr>
          <p:cNvPr id="9" name="Card stat 4"/>
          <p:cNvSpPr/>
          <p:nvPr/>
        </p:nvSpPr>
        <p:spPr>
          <a:xfrm>
            <a:off x="6766560" y="1188720"/>
            <a:ext cx="1920240" cy="1188720"/>
          </a:xfrm>
          <a:prstGeom prst="roundRect">
            <a:avLst>
              <a:gd name="adj" fmla="val 769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tat 4"/>
          <p:cNvSpPr txBox="1"/>
          <p:nvPr/>
        </p:nvSpPr>
        <p:spPr>
          <a:xfrm>
            <a:off x="6858000" y="11887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RMSE 0.94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Deep Learning recommender</a:t>
            </a:r>
            <a:endParaRPr lang="en-US" sz="26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2606040"/>
          <a:ext cx="4297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Box spiegazione"/>
          <p:cNvSpPr/>
          <p:nvPr/>
        </p:nvSpPr>
        <p:spPr>
          <a:xfrm>
            <a:off x="5029200" y="2606040"/>
            <a:ext cx="365760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/>
        </p:spPr>
      </p:sp>
      <p:sp>
        <p:nvSpPr>
          <p:cNvPr id="13" name="Spiegazione"/>
          <p:cNvSpPr txBox="1"/>
          <p:nvPr/>
        </p:nvSpPr>
        <p:spPr>
          <a:xfrm>
            <a:off x="5212080" y="26974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 parole semplici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Il modello neurale sbaglia, in media, di meno di 1 stella (0.76).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KNN risponde in ~55 ms (ideale per app in tempo reale); il Deep Learning impiega ~436 ms: più lento, ma molto più preciso.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Integrazione: Unified Yelp Analytics</a:t>
            </a:r>
            <a:endParaRPr lang="en-US" sz="3000" dirty="0"/>
          </a:p>
        </p:txBody>
      </p:sp>
      <p:pic>
        <p:nvPicPr>
          <p:cNvPr id="3" name="Dashboard benchmark pipeline" descr="Dashboard benchmark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572000" cy="236829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4" name="Didascalia"/>
          <p:cNvSpPr txBox="1"/>
          <p:nvPr/>
        </p:nvSpPr>
        <p:spPr>
          <a:xfrm>
            <a:off x="457200" y="3886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Dashboard Streamlit: benchmark pipeline 01-05</a:t>
            </a:r>
            <a:endParaRPr lang="en-US" sz="1000" dirty="0"/>
          </a:p>
        </p:txBody>
      </p:sp>
      <p:sp>
        <p:nvSpPr>
          <p:cNvPr id="5" name="Valore"/>
          <p:cNvSpPr txBox="1"/>
          <p:nvPr/>
        </p:nvSpPr>
        <p:spPr>
          <a:xfrm>
            <a:off x="5394960" y="123444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Valore di business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Integrare LDA e rating per capire perché un locale perde stelle e dove intervenire.</a:t>
            </a:r>
            <a:endParaRPr lang="en-US" sz="1600" dirty="0"/>
          </a:p>
        </p:txBody>
      </p:sp>
      <p:sp>
        <p:nvSpPr>
          <p:cNvPr id="6" name="Trade-off"/>
          <p:cNvSpPr txBox="1"/>
          <p:nvPr/>
        </p:nvSpPr>
        <p:spPr>
          <a:xfrm>
            <a:off x="5394960" y="24231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Trade-off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Latenza vs accuratezza: KNN ~55 ms contro Deep Learning ~436 ms.</a:t>
            </a:r>
            <a:endParaRPr lang="en-US" sz="1600" dirty="0"/>
          </a:p>
        </p:txBody>
      </p:sp>
      <p:sp>
        <p:nvSpPr>
          <p:cNvPr id="7" name="Dashboard"/>
          <p:cNvSpPr txBox="1"/>
          <p:nvPr/>
        </p:nvSpPr>
        <p:spPr>
          <a:xfrm>
            <a:off x="5394960" y="352044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Dashboard unica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Profilazione, sentiment, topic analysis e raccomandazione.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Conclusioni</a:t>
            </a:r>
            <a:endParaRPr lang="en-US" sz="3000" dirty="0"/>
          </a:p>
        </p:txBody>
      </p:sp>
      <p:sp>
        <p:nvSpPr>
          <p:cNvPr id="3" name="Sintesi"/>
          <p:cNvSpPr txBox="1"/>
          <p:nvPr/>
        </p:nvSpPr>
        <p:spPr>
          <a:xfrm>
            <a:off x="45720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Problemi superati: totale eliminazione dei crash (Out-Of-Memory) integrando Polars, passando da minuti a millisecondi.</a:t>
            </a:r>
            <a:endParaRPr lang="en-US" sz="1800" dirty="0"/>
          </a:p>
        </p:txBody>
      </p:sp>
      <p:sp>
        <p:nvSpPr>
          <p:cNvPr id="4" name="Pilastro 1"/>
          <p:cNvSpPr/>
          <p:nvPr/>
        </p:nvSpPr>
        <p:spPr>
          <a:xfrm>
            <a:off x="457200" y="2423160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5" name="Icona pilastro 1 sfondo"/>
          <p:cNvSpPr/>
          <p:nvPr/>
        </p:nvSpPr>
        <p:spPr>
          <a:xfrm>
            <a:off x="146304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a pilastro 1" descr="Icona pilastr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6659" y="2759659"/>
            <a:ext cx="241402" cy="241402"/>
          </a:xfrm>
          <a:prstGeom prst="rect">
            <a:avLst/>
          </a:prstGeom>
        </p:spPr>
      </p:pic>
      <p:sp>
        <p:nvSpPr>
          <p:cNvPr id="7" name="Testo pilastro 1"/>
          <p:cNvSpPr txBox="1"/>
          <p:nvPr/>
        </p:nvSpPr>
        <p:spPr>
          <a:xfrm>
            <a:off x="548640" y="32461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Velocità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 minuti a millisecondi</a:t>
            </a:r>
            <a:endParaRPr lang="en-US" sz="1600" dirty="0"/>
          </a:p>
        </p:txBody>
      </p:sp>
      <p:sp>
        <p:nvSpPr>
          <p:cNvPr id="8" name="Pilastro 2"/>
          <p:cNvSpPr/>
          <p:nvPr/>
        </p:nvSpPr>
        <p:spPr>
          <a:xfrm>
            <a:off x="3291840" y="2423160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9" name="Icona pilastro 2 sfondo"/>
          <p:cNvSpPr/>
          <p:nvPr/>
        </p:nvSpPr>
        <p:spPr>
          <a:xfrm>
            <a:off x="429768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a pilastro 2" descr="Icona pilastr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2759659"/>
            <a:ext cx="241402" cy="241402"/>
          </a:xfrm>
          <a:prstGeom prst="rect">
            <a:avLst/>
          </a:prstGeom>
        </p:spPr>
      </p:pic>
      <p:sp>
        <p:nvSpPr>
          <p:cNvPr id="11" name="Testo pilastro 2"/>
          <p:cNvSpPr txBox="1"/>
          <p:nvPr/>
        </p:nvSpPr>
        <p:spPr>
          <a:xfrm>
            <a:off x="3383280" y="32461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Modularità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Cinque moduli indipendenti</a:t>
            </a:r>
            <a:endParaRPr lang="en-US" sz="1600" dirty="0"/>
          </a:p>
        </p:txBody>
      </p:sp>
      <p:sp>
        <p:nvSpPr>
          <p:cNvPr id="12" name="Pilastro 3"/>
          <p:cNvSpPr/>
          <p:nvPr/>
        </p:nvSpPr>
        <p:spPr>
          <a:xfrm>
            <a:off x="6126480" y="2423160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13" name="Icona pilastro 3 sfondo"/>
          <p:cNvSpPr/>
          <p:nvPr/>
        </p:nvSpPr>
        <p:spPr>
          <a:xfrm>
            <a:off x="713232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a pilastro 3" descr="Icona pilastr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939" y="2759659"/>
            <a:ext cx="241402" cy="241402"/>
          </a:xfrm>
          <a:prstGeom prst="rect">
            <a:avLst/>
          </a:prstGeom>
        </p:spPr>
      </p:pic>
      <p:sp>
        <p:nvSpPr>
          <p:cNvPr id="15" name="Testo pilastro 3"/>
          <p:cNvSpPr txBox="1"/>
          <p:nvPr/>
        </p:nvSpPr>
        <p:spPr>
          <a:xfrm>
            <a:off x="6217920" y="32461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Completezza analitica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Dall'ingestion alla BI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Yelp Pipeline">
  <a:themeElements>
    <a:clrScheme name="Yelp Pipeline">
      <a:dk1>
        <a:srgbClr val="1F2030"/>
      </a:dk1>
      <a:lt1>
        <a:srgbClr val="FFFFFF"/>
      </a:lt1>
      <a:dk2>
        <a:srgbClr val="2E3047"/>
      </a:dk2>
      <a:lt2>
        <a:srgbClr val="F3F3F6"/>
      </a:lt2>
      <a:accent1>
        <a:srgbClr val="D32323"/>
      </a:accent1>
      <a:accent2>
        <a:srgbClr val="F2A541"/>
      </a:accent2>
      <a:accent3>
        <a:srgbClr val="3A7CA5"/>
      </a:accent3>
      <a:accent4>
        <a:srgbClr val="6B7280"/>
      </a:accent4>
      <a:accent5>
        <a:srgbClr val="2E9E6B"/>
      </a:accent5>
      <a:accent6>
        <a:srgbClr val="8E5BA8"/>
      </a:accent6>
      <a:hlink>
        <a:srgbClr val="D32323"/>
      </a:hlink>
      <a:folHlink>
        <a:srgbClr val="6B7280"/>
      </a:folHlink>
    </a:clrScheme>
    <a:fontScheme name="Yelp Pipeli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Analitica Integrata per il Dataset Yelp</dc:title>
  <dc:subject>PptxGenJS Presentation</dc:subject>
  <dc:creator>Valerio Fiorentini</dc:creator>
  <cp:lastModifiedBy>Valerio Fiorentini</cp:lastModifiedBy>
  <cp:revision>1</cp:revision>
  <dcterms:created xsi:type="dcterms:W3CDTF">2026-10-04T16:08:14Z</dcterms:created>
  <dcterms:modified xsi:type="dcterms:W3CDTF">2026-10-04T16:08:14Z</dcterms:modified>
</cp:coreProperties>
</file>